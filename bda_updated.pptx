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82" d="100"/>
          <a:sy n="82" d="100"/>
        </p:scale>
        <p:origin x="720" y="7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tableStyles" Target="tableStyles.xml"/><Relationship Id="rId22" Type="http://schemas.openxmlformats.org/officeDocument/2006/relationships/viewProps" Target="viewProp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sz="1200" b="1">
                <a:solidFill>
                  <a:srgbClr val="000000"/>
                </a:solidFill>
                <a:latin typeface="Calibri"/>
              </a:rPr>
              <a:t>Rating distribution — 100,836 ratings (Hive report)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Ratings</c:v>
                </c:pt>
              </c:strCache>
            </c:strRef>
          </c:tx>
          <c:spPr bwMode="auto">
            <a:prstGeom prst="rect">
              <a:avLst/>
            </a:prstGeom>
            <a:solidFill>
              <a:srgbClr val="000000"/>
            </a:solidFill>
          </c:spPr>
          <c:cat>
            <c:strRef>
              <c:f>Sheet1!$A$2:$A$11</c:f>
              <c:strCache>
                <c:ptCount val="10"/>
                <c:pt idx="0">
                  <c:v>5.0</c:v>
                </c:pt>
                <c:pt idx="1">
                  <c:v>4.5</c:v>
                </c:pt>
                <c:pt idx="2">
                  <c:v>4.0</c:v>
                </c:pt>
                <c:pt idx="3">
                  <c:v>3.5</c:v>
                </c:pt>
                <c:pt idx="4">
                  <c:v>3.0</c:v>
                </c:pt>
                <c:pt idx="5">
                  <c:v>2.5</c:v>
                </c:pt>
                <c:pt idx="6">
                  <c:v>2.0</c:v>
                </c:pt>
                <c:pt idx="7">
                  <c:v>1.5</c:v>
                </c:pt>
                <c:pt idx="8">
                  <c:v>1.0</c:v>
                </c:pt>
                <c:pt idx="9">
                  <c:v>0.5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13211</c:v>
                </c:pt>
                <c:pt idx="1">
                  <c:v>8551</c:v>
                </c:pt>
                <c:pt idx="2">
                  <c:v>26818</c:v>
                </c:pt>
                <c:pt idx="3">
                  <c:v>13136</c:v>
                </c:pt>
                <c:pt idx="4">
                  <c:v>20047</c:v>
                </c:pt>
                <c:pt idx="5">
                  <c:v>5550</c:v>
                </c:pt>
                <c:pt idx="6">
                  <c:v>7551</c:v>
                </c:pt>
                <c:pt idx="7">
                  <c:v>1791</c:v>
                </c:pt>
                <c:pt idx="8">
                  <c:v>2811</c:v>
                </c:pt>
                <c:pt idx="9">
                  <c:v>1370</c:v>
                </c:pt>
              </c:numCache>
            </c:numRef>
          </c:val>
        </c:ser>
        <c:dLbls>
          <c:dLblPos val="outEnd"/>
          <c:numFmt formatCode="#,##0" sourceLinked="0"/>
          <c:showBubbleSize val="0"/>
          <c:showCatName val="0"/>
          <c:showLeaderLines val="1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850">
                  <a:solidFill>
                    <a:srgbClr val="000000"/>
                  </a:solidFill>
                </a:defRPr>
              </a:pPr>
              <a:endParaRPr/>
            </a:p>
          </c:txPr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/>
          </a:p>
        </c:txPr>
        <c:crossAx val="-2068027336"/>
        <c:crosses val="autoZero"/>
        <c:crossBetween val="between"/>
      </c:valAx>
    </c:plotArea>
    <c:dispBlanksAs val="gap"/>
    <c:showDLblsOverMax val="0"/>
  </c:chart>
  <c:spPr bwMode="auto">
    <a:xfrm rot="0">
      <a:off x="457200" y="1417320"/>
      <a:ext cx="6675120" cy="2377440"/>
    </a:xfrm>
  </c:spPr>
  <c:txPr>
    <a:bodyPr/>
    <a:lstStyle/>
    <a:p>
      <a:pPr>
        <a:defRPr sz="1800"/>
      </a:pPr>
      <a:endParaRPr lang="en-US"/>
    </a:p>
  </c:txPr>
  <c:externalData r:id="rId1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sz="1200" b="1">
                <a:solidFill>
                  <a:srgbClr val="000000"/>
                </a:solidFill>
                <a:latin typeface="Calibri"/>
              </a:rPr>
              <a:t>Average rating by genre — top 8 (Hive report)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 bwMode="auto">
            <a:prstGeom prst="rect">
              <a:avLst/>
            </a:prstGeom>
            <a:solidFill>
              <a:srgbClr val="000000"/>
            </a:solidFill>
          </c:spPr>
          <c:cat>
            <c:strRef>
              <c:f>Sheet1!$A$2:$A$9</c:f>
              <c:strCache>
                <c:ptCount val="8"/>
                <c:pt idx="0">
                  <c:v>IMAX</c:v>
                </c:pt>
                <c:pt idx="1">
                  <c:v>Animation</c:v>
                </c:pt>
                <c:pt idx="2">
                  <c:v>Mystery</c:v>
                </c:pt>
                <c:pt idx="3">
                  <c:v>Drama</c:v>
                </c:pt>
                <c:pt idx="4">
                  <c:v>Crime</c:v>
                </c:pt>
                <c:pt idx="5">
                  <c:v>Documentary</c:v>
                </c:pt>
                <c:pt idx="6">
                  <c:v>War</c:v>
                </c:pt>
                <c:pt idx="7">
                  <c:v>Film-Noir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3.62</c:v>
                </c:pt>
                <c:pt idx="1">
                  <c:v>3.63</c:v>
                </c:pt>
                <c:pt idx="2">
                  <c:v>3.63</c:v>
                </c:pt>
                <c:pt idx="3">
                  <c:v>3.66</c:v>
                </c:pt>
                <c:pt idx="4">
                  <c:v>3.66</c:v>
                </c:pt>
                <c:pt idx="5">
                  <c:v>3.8</c:v>
                </c:pt>
                <c:pt idx="6">
                  <c:v>3.81</c:v>
                </c:pt>
                <c:pt idx="7">
                  <c:v>3.92</c:v>
                </c:pt>
              </c:numCache>
            </c:numRef>
          </c:val>
        </c:ser>
        <c:dLbls>
          <c:dLblPos val="outEnd"/>
          <c:numFmt formatCode="0.00" sourceLinked="0"/>
          <c:showBubbleSize val="0"/>
          <c:showCatName val="0"/>
          <c:showLeaderLines val="1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850">
                  <a:solidFill>
                    <a:srgbClr val="000000"/>
                  </a:solidFill>
                </a:defRPr>
              </a:pPr>
              <a:endParaRPr/>
            </a:p>
          </c:txPr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000000"/>
          <c:min val="3.000000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/>
          </a:p>
        </c:txPr>
        <c:crossAx val="-2068027336"/>
        <c:crosses val="autoZero"/>
        <c:crossBetween val="between"/>
      </c:valAx>
    </c:plotArea>
    <c:dispBlanksAs val="gap"/>
    <c:showDLblsOverMax val="0"/>
  </c:chart>
  <c:spPr bwMode="auto">
    <a:xfrm rot="0">
      <a:off x="457200" y="3931920"/>
      <a:ext cx="6675120" cy="2377440"/>
    </a:xfrm>
  </c:spPr>
  <c:txPr>
    <a:bodyPr/>
    <a:lstStyle/>
    <a:p>
      <a:pPr>
        <a:defRPr sz="1800"/>
      </a:pPr>
      <a:endParaRPr lang="en-US"/>
    </a:p>
  </c:txPr>
  <c:externalData r:id="rId1">
    <c:autoUpdate val="1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50550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30570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1329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17719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06754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28527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66347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8765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22335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9824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09708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10433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26431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234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66261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92039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29259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695654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52730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21158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933312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8752D4-A3E7-8593-DF98-4B286F4214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06398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0894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4027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9815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9344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58576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7470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32661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0372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2189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1302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4416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0301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57851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78981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58859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0331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94659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52486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07263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545656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E6E6E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515174" name="Text 0"/>
          <p:cNvSpPr txBox="1"/>
          <p:nvPr/>
        </p:nvSpPr>
        <p:spPr bwMode="auto">
          <a:xfrm>
            <a:off x="0" y="18288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90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BIG DATA ANALYTICS CASE STUDY</a:t>
            </a:r>
            <a:endParaRPr lang="en-US" sz="1900"/>
          </a:p>
        </p:txBody>
      </p:sp>
      <p:sp>
        <p:nvSpPr>
          <p:cNvPr id="2028842801" name="Text 1"/>
          <p:cNvSpPr txBox="1"/>
          <p:nvPr/>
        </p:nvSpPr>
        <p:spPr bwMode="auto">
          <a:xfrm>
            <a:off x="731520" y="2514600"/>
            <a:ext cx="107259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  <a:defRPr/>
            </a:pPr>
            <a:r>
              <a:rPr lang="en-US" sz="420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CINEMATCH: MOVIE RECOMMENDATION</a:t>
            </a:r>
            <a:endParaRPr lang="en-US" sz="4200"/>
          </a:p>
          <a:p>
            <a:pPr marL="0" indent="0" algn="ctr">
              <a:lnSpc>
                <a:spcPct val="110000"/>
              </a:lnSpc>
              <a:buNone/>
              <a:defRPr/>
            </a:pPr>
            <a:r>
              <a:rPr lang="en-US" sz="420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USING BIG DATA TECHNOLOGIES</a:t>
            </a:r>
            <a:endParaRPr lang="en-US" sz="4200"/>
          </a:p>
        </p:txBody>
      </p:sp>
      <p:sp>
        <p:nvSpPr>
          <p:cNvPr id="671318758" name="Shape 2"/>
          <p:cNvSpPr/>
          <p:nvPr/>
        </p:nvSpPr>
        <p:spPr bwMode="auto">
          <a:xfrm>
            <a:off x="0" y="5989320"/>
            <a:ext cx="12188952" cy="86868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06156424" name="Text 3"/>
          <p:cNvSpPr txBox="1"/>
          <p:nvPr/>
        </p:nvSpPr>
        <p:spPr bwMode="auto">
          <a:xfrm>
            <a:off x="0" y="6108192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Presented by Meenakshi · Nivedya · Nikitha · Nandu</a:t>
            </a:r>
            <a:endParaRPr lang="en-US" sz="1500"/>
          </a:p>
        </p:txBody>
      </p:sp>
      <p:sp>
        <p:nvSpPr>
          <p:cNvPr id="1438416107" name="Text 4"/>
          <p:cNvSpPr txBox="1"/>
          <p:nvPr/>
        </p:nvSpPr>
        <p:spPr bwMode="auto">
          <a:xfrm>
            <a:off x="0" y="640080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MovieLens recommender on HDFS, Spark MLlib, Hive &amp; MongoDB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E6E6E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9249642" name="Text 0"/>
          <p:cNvSpPr txBox="1"/>
          <p:nvPr/>
        </p:nvSpPr>
        <p:spPr bwMode="auto"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Introduction</a:t>
            </a:r>
            <a:endParaRPr lang="en-US" sz="3000"/>
          </a:p>
        </p:txBody>
      </p:sp>
      <p:sp>
        <p:nvSpPr>
          <p:cNvPr id="2143236580" name="Text 1"/>
          <p:cNvSpPr txBox="1"/>
          <p:nvPr/>
        </p:nvSpPr>
        <p:spPr bwMode="auto">
          <a:xfrm>
            <a:off x="548640" y="1417320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Recommendation engines decide what millions of users watch next on streaming platforms.</a:t>
            </a:r>
            <a:endParaRPr lang="en-US" sz="160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Manual curation cannot personalise a catalogue of ~9,700 movies for 610+ users.</a:t>
            </a:r>
            <a:endParaRPr lang="en-US" sz="160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Big Data tools store and process the full MovieLens rating history on one commodity machine.</a:t>
            </a:r>
            <a:endParaRPr lang="en-US" sz="160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Matrix factorisation (ALS) learns latent taste vectors and predicts every user-movie rating.</a:t>
            </a:r>
            <a:endParaRPr lang="en-US" sz="160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CineMatch builds a complete Big Data pipeline that combines batch training with a live Flask front end.</a:t>
            </a:r>
            <a:endParaRPr lang="en-US" sz="1600"/>
          </a:p>
        </p:txBody>
      </p:sp>
      <p:sp>
        <p:nvSpPr>
          <p:cNvPr id="1933493127" name="Text 2"/>
          <p:cNvSpPr txBox="1"/>
          <p:nvPr/>
        </p:nvSpPr>
        <p:spPr bwMode="auto">
          <a:xfrm>
            <a:off x="548640" y="5120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MovieLens  →  HDFS  →  Spark MLlib (ALS)  →  MongoDB  →  Flask UI, with Hive for SQL analytics</a:t>
            </a:r>
            <a:endParaRPr lang="en-US" sz="1500"/>
          </a:p>
        </p:txBody>
      </p:sp>
      <p:sp>
        <p:nvSpPr>
          <p:cNvPr id="14470340" name="Shape 3"/>
          <p:cNvSpPr/>
          <p:nvPr/>
        </p:nvSpPr>
        <p:spPr bwMode="auto">
          <a:xfrm>
            <a:off x="0" y="6446520"/>
            <a:ext cx="12188952" cy="41148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821514740" name="Text 4"/>
          <p:cNvSpPr txBox="1"/>
          <p:nvPr/>
        </p:nvSpPr>
        <p:spPr bwMode="auto">
          <a:xfrm>
            <a:off x="11430000" y="6446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E6E6E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632928" name="Text 0"/>
          <p:cNvSpPr txBox="1"/>
          <p:nvPr/>
        </p:nvSpPr>
        <p:spPr bwMode="auto"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Problem Statement</a:t>
            </a:r>
            <a:endParaRPr lang="en-US" sz="3000"/>
          </a:p>
        </p:txBody>
      </p:sp>
      <p:sp>
        <p:nvSpPr>
          <p:cNvPr id="2049767423" name="Text 1"/>
          <p:cNvSpPr txBox="1"/>
          <p:nvPr/>
        </p:nvSpPr>
        <p:spPr bwMode="auto">
          <a:xfrm>
            <a:off x="548640" y="123444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  <a:defRPr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Catalogues hold thousands of titles; users cannot browse them all and discover very little.</a:t>
            </a:r>
            <a:endParaRPr lang="en-US" sz="150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  <a:defRPr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Batch-only recommenders are rebuilt offline and cannot absorb new ratings during the day.</a:t>
            </a:r>
            <a:endParaRPr lang="en-US" sz="150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  <a:defRPr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There was no simple student-sized system showing storage, SQL analytics and ML serving together.</a:t>
            </a:r>
            <a:endParaRPr lang="en-US" sz="1500"/>
          </a:p>
        </p:txBody>
      </p:sp>
      <p:sp>
        <p:nvSpPr>
          <p:cNvPr id="1062830897" name="Text 2"/>
          <p:cNvSpPr txBox="1"/>
          <p:nvPr/>
        </p:nvSpPr>
        <p:spPr bwMode="auto">
          <a:xfrm>
            <a:off x="548640" y="2880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Objective</a:t>
            </a:r>
            <a:endParaRPr lang="en-US" sz="3000"/>
          </a:p>
        </p:txBody>
      </p:sp>
      <p:sp>
        <p:nvSpPr>
          <p:cNvPr id="2105386415" name="Text 3"/>
          <p:cNvSpPr txBox="1"/>
          <p:nvPr/>
        </p:nvSpPr>
        <p:spPr bwMode="auto">
          <a:xfrm>
            <a:off x="548640" y="370332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  <a:defRPr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 ingest and store the MovieLens ratings and movies CSVs on HDFS.</a:t>
            </a:r>
            <a:endParaRPr lang="en-US" sz="150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  <a:defRPr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 define Hive external tables over the CSVs and export three SQL reports.</a:t>
            </a:r>
            <a:endParaRPr lang="en-US" sz="150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  <a:defRPr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 train a Spark MLlib ALS model for rating prediction (test RMSE ≈ 0.88).</a:t>
            </a:r>
            <a:endParaRPr lang="en-US" sz="150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  <a:defRPr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 serve top-10 recommendations per user with low latency from MongoDB.</a:t>
            </a:r>
            <a:endParaRPr lang="en-US" sz="150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  <a:defRPr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 visualise recommendations, rating history and Hive reports in a Flask dashboard.</a:t>
            </a:r>
            <a:endParaRPr lang="en-US" sz="1500"/>
          </a:p>
        </p:txBody>
      </p:sp>
      <p:sp>
        <p:nvSpPr>
          <p:cNvPr id="1707298524" name="Shape 4"/>
          <p:cNvSpPr/>
          <p:nvPr/>
        </p:nvSpPr>
        <p:spPr bwMode="auto">
          <a:xfrm>
            <a:off x="0" y="6446520"/>
            <a:ext cx="12188952" cy="41148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69993327" name="Text 5"/>
          <p:cNvSpPr txBox="1"/>
          <p:nvPr/>
        </p:nvSpPr>
        <p:spPr bwMode="auto">
          <a:xfrm>
            <a:off x="11430000" y="6446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E6E6E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1330034" name="Text 0"/>
          <p:cNvSpPr txBox="1"/>
          <p:nvPr/>
        </p:nvSpPr>
        <p:spPr bwMode="auto"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Literature Survey</a:t>
            </a:r>
            <a:endParaRPr lang="en-US" sz="3000"/>
          </a:p>
        </p:txBody>
      </p:sp>
      <p:sp>
        <p:nvSpPr>
          <p:cNvPr id="963387049" name="Shape 1"/>
          <p:cNvSpPr/>
          <p:nvPr/>
        </p:nvSpPr>
        <p:spPr bwMode="auto">
          <a:xfrm>
            <a:off x="548640" y="1417320"/>
            <a:ext cx="3520440" cy="4480560"/>
          </a:xfrm>
          <a:prstGeom prst="roundRect">
            <a:avLst>
              <a:gd name="adj" fmla="val 4675"/>
            </a:avLst>
          </a:prstGeom>
          <a:solidFill>
            <a:srgbClr val="BFBFBF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1826548384" name="Text 2"/>
          <p:cNvSpPr txBox="1"/>
          <p:nvPr/>
        </p:nvSpPr>
        <p:spPr bwMode="auto">
          <a:xfrm>
            <a:off x="804672" y="16002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What we looked for in prior work</a:t>
            </a:r>
            <a:endParaRPr lang="en-US" sz="1500"/>
          </a:p>
        </p:txBody>
      </p:sp>
      <p:sp>
        <p:nvSpPr>
          <p:cNvPr id="1341152347" name="Text 3"/>
          <p:cNvSpPr txBox="1"/>
          <p:nvPr/>
        </p:nvSpPr>
        <p:spPr bwMode="auto">
          <a:xfrm>
            <a:off x="804672" y="2103120"/>
            <a:ext cx="300837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1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Collaborative filtering at scale on large rating matrices</a:t>
            </a:r>
            <a:endParaRPr lang="en-US" sz="115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1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Matrix factorisation for explicit rating feedback</a:t>
            </a:r>
            <a:endParaRPr lang="en-US" sz="115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1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Nearest-neighbour and content-based baselines</a:t>
            </a:r>
            <a:endParaRPr lang="en-US" sz="115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1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Lambda-style batch + serving architectures</a:t>
            </a:r>
            <a:endParaRPr lang="en-US" sz="115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1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Serving-layer latency for per-user lists</a:t>
            </a:r>
            <a:endParaRPr lang="en-US" sz="1150"/>
          </a:p>
        </p:txBody>
      </p:sp>
      <p:sp>
        <p:nvSpPr>
          <p:cNvPr id="2053577789" name="Shape 4"/>
          <p:cNvSpPr/>
          <p:nvPr/>
        </p:nvSpPr>
        <p:spPr bwMode="auto">
          <a:xfrm>
            <a:off x="4343400" y="1417320"/>
            <a:ext cx="3520440" cy="4480560"/>
          </a:xfrm>
          <a:prstGeom prst="roundRect">
            <a:avLst>
              <a:gd name="adj" fmla="val 4675"/>
            </a:avLst>
          </a:prstGeom>
          <a:solidFill>
            <a:srgbClr val="BFBFBF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1713005494" name="Text 5"/>
          <p:cNvSpPr txBox="1"/>
          <p:nvPr/>
        </p:nvSpPr>
        <p:spPr bwMode="auto">
          <a:xfrm>
            <a:off x="4599432" y="16002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How that shaped our project</a:t>
            </a:r>
            <a:endParaRPr lang="en-US" sz="1500"/>
          </a:p>
        </p:txBody>
      </p:sp>
      <p:sp>
        <p:nvSpPr>
          <p:cNvPr id="1869256782" name="Text 6"/>
          <p:cNvSpPr txBox="1"/>
          <p:nvPr/>
        </p:nvSpPr>
        <p:spPr bwMode="auto">
          <a:xfrm>
            <a:off x="4599432" y="2103120"/>
            <a:ext cx="300837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1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HDFS + Hive for scalable storage and SQL querying</a:t>
            </a:r>
            <a:endParaRPr lang="en-US" sz="115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1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Spark MLlib ALS - a proven matrix-factorisation model</a:t>
            </a:r>
            <a:endParaRPr lang="en-US" sz="115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1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RMSE on a held-out split to compare configurations</a:t>
            </a:r>
            <a:endParaRPr lang="en-US" sz="115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1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MongoDB as a low-latency document serving layer</a:t>
            </a:r>
            <a:endParaRPr lang="en-US" sz="115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1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Flask for a rapid, interactive front end</a:t>
            </a:r>
            <a:endParaRPr lang="en-US" sz="1150"/>
          </a:p>
        </p:txBody>
      </p:sp>
      <p:sp>
        <p:nvSpPr>
          <p:cNvPr id="1330721586" name="Shape 7"/>
          <p:cNvSpPr/>
          <p:nvPr/>
        </p:nvSpPr>
        <p:spPr bwMode="auto">
          <a:xfrm>
            <a:off x="8138160" y="1417320"/>
            <a:ext cx="3520440" cy="4480560"/>
          </a:xfrm>
          <a:prstGeom prst="roundRect">
            <a:avLst>
              <a:gd name="adj" fmla="val 4675"/>
            </a:avLst>
          </a:prstGeom>
          <a:solidFill>
            <a:srgbClr val="BFBFBF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530171762" name="Text 8"/>
          <p:cNvSpPr txBox="1"/>
          <p:nvPr/>
        </p:nvSpPr>
        <p:spPr bwMode="auto">
          <a:xfrm>
            <a:off x="8394192" y="16002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Gap addressed by the prototype</a:t>
            </a:r>
            <a:endParaRPr lang="en-US" sz="1500"/>
          </a:p>
        </p:txBody>
      </p:sp>
      <p:sp>
        <p:nvSpPr>
          <p:cNvPr id="1150631976" name="Text 9"/>
          <p:cNvSpPr txBox="1"/>
          <p:nvPr/>
        </p:nvSpPr>
        <p:spPr bwMode="auto">
          <a:xfrm>
            <a:off x="8394192" y="2103120"/>
            <a:ext cx="300837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1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Course projects often stop at model accuracy</a:t>
            </a:r>
            <a:endParaRPr lang="en-US" sz="115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1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Few wire the trained model into a real serving database</a:t>
            </a:r>
            <a:endParaRPr lang="en-US" sz="115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1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New ratings rarely flow back into retraining</a:t>
            </a:r>
            <a:endParaRPr lang="en-US" sz="115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1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Many use Hadoop for storage but skip SQL analytics</a:t>
            </a:r>
            <a:endParaRPr lang="en-US" sz="115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1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This prototype closes the loop end to end</a:t>
            </a:r>
            <a:endParaRPr lang="en-US" sz="1150"/>
          </a:p>
        </p:txBody>
      </p:sp>
      <p:sp>
        <p:nvSpPr>
          <p:cNvPr id="1602645357" name="Shape 10"/>
          <p:cNvSpPr/>
          <p:nvPr/>
        </p:nvSpPr>
        <p:spPr bwMode="auto">
          <a:xfrm>
            <a:off x="0" y="6446520"/>
            <a:ext cx="12188952" cy="41148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385459066" name="Text 11"/>
          <p:cNvSpPr txBox="1"/>
          <p:nvPr/>
        </p:nvSpPr>
        <p:spPr bwMode="auto">
          <a:xfrm>
            <a:off x="11430000" y="6446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E6E6E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8889699" name="Text 0"/>
          <p:cNvSpPr txBox="1"/>
          <p:nvPr/>
        </p:nvSpPr>
        <p:spPr bwMode="auto"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Dataset</a:t>
            </a:r>
            <a:endParaRPr lang="en-US" sz="3000"/>
          </a:p>
        </p:txBody>
      </p:sp>
      <p:sp>
        <p:nvSpPr>
          <p:cNvPr id="1897579810" name="Text 1"/>
          <p:cNvSpPr txBox="1"/>
          <p:nvPr/>
        </p:nvSpPr>
        <p:spPr bwMode="auto">
          <a:xfrm>
            <a:off x="548640" y="1234440"/>
            <a:ext cx="7315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  <a:defRPr/>
            </a:pPr>
            <a:r>
              <a:rPr lang="en-US" sz="14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MovieLens ml-latest-small: 100,836 ratings on a 0.5-5.0 star scale, with timestamps</a:t>
            </a:r>
            <a:endParaRPr lang="en-US" sz="145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  <a:defRPr/>
            </a:pPr>
            <a:r>
              <a:rPr lang="en-US" sz="14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9,742 movies (9,724 with at least one rating)</a:t>
            </a:r>
            <a:endParaRPr lang="en-US" sz="145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  <a:defRPr/>
            </a:pPr>
            <a:r>
              <a:rPr lang="en-US" sz="14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610 users; each is served a personalised top-10 recommendation list</a:t>
            </a:r>
            <a:endParaRPr lang="en-US" sz="145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  <a:defRPr/>
            </a:pPr>
            <a:r>
              <a:rPr lang="en-US" sz="14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Live feedback: ratings marked in the UI are stored and folded back into training</a:t>
            </a:r>
            <a:endParaRPr lang="en-US" sz="1450"/>
          </a:p>
        </p:txBody>
      </p:sp>
      <p:sp>
        <p:nvSpPr>
          <p:cNvPr id="1395001714" name="Text 15"/>
          <p:cNvSpPr txBox="1"/>
          <p:nvPr/>
        </p:nvSpPr>
        <p:spPr bwMode="auto">
          <a:xfrm>
            <a:off x="548640" y="36118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Processing</a:t>
            </a:r>
            <a:endParaRPr lang="en-US" sz="3000"/>
          </a:p>
        </p:txBody>
      </p:sp>
      <p:sp>
        <p:nvSpPr>
          <p:cNvPr id="2131257076" name="Text 16"/>
          <p:cNvSpPr txBox="1"/>
          <p:nvPr/>
        </p:nvSpPr>
        <p:spPr bwMode="auto">
          <a:xfrm>
            <a:off x="548640" y="4343400"/>
            <a:ext cx="10881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3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Ingestion: make setup downloads MovieLens and loads ratings.csv and movies.csv into /data/raw on HDFS.</a:t>
            </a:r>
            <a:endParaRPr lang="en-US" sz="135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3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SQL analytics: Hive builds external tables over the CSVs and exports three report CSVs (make report).</a:t>
            </a:r>
            <a:endParaRPr lang="en-US" sz="135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3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Modelling: the Scala ALS job needs no manual features - user IDs, movie IDs and ratings are enough.</a:t>
            </a:r>
            <a:endParaRPr lang="en-US" sz="135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3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Serving: top-10 lists per user are written to MongoDB as JSON documents, joined with titles.</a:t>
            </a:r>
            <a:endParaRPr lang="en-US" sz="1350"/>
          </a:p>
        </p:txBody>
      </p:sp>
      <p:sp>
        <p:nvSpPr>
          <p:cNvPr id="1346728610" name="Shape 17"/>
          <p:cNvSpPr/>
          <p:nvPr/>
        </p:nvSpPr>
        <p:spPr bwMode="auto">
          <a:xfrm>
            <a:off x="0" y="6446520"/>
            <a:ext cx="12188952" cy="41148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35945799" name="Text 18"/>
          <p:cNvSpPr txBox="1"/>
          <p:nvPr/>
        </p:nvSpPr>
        <p:spPr bwMode="auto">
          <a:xfrm>
            <a:off x="11430000" y="6446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5</a:t>
            </a:r>
            <a:endParaRPr lang="en-US" sz="1200"/>
          </a:p>
        </p:txBody>
      </p:sp>
      <p:sp>
        <p:nvSpPr>
          <p:cNvPr id="646759130" name="TextBox 20"/>
          <p:cNvSpPr txBox="1"/>
          <p:nvPr/>
        </p:nvSpPr>
        <p:spPr bwMode="auto">
          <a:xfrm>
            <a:off x="8732520" y="777240"/>
            <a:ext cx="301751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000000"/>
                </a:solidFill>
                <a:latin typeface="Calibri"/>
              </a:rPr>
              <a:t>Pipeline</a:t>
            </a:r>
            <a:endParaRPr/>
          </a:p>
        </p:txBody>
      </p:sp>
      <p:sp>
        <p:nvSpPr>
          <p:cNvPr id="225983414" name="Rectangle 21"/>
          <p:cNvSpPr/>
          <p:nvPr/>
        </p:nvSpPr>
        <p:spPr bwMode="auto">
          <a:xfrm>
            <a:off x="8732520" y="1188720"/>
            <a:ext cx="3017519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>
              <a:defRPr/>
            </a:pPr>
            <a:r>
              <a:rPr sz="1100" b="1">
                <a:solidFill>
                  <a:srgbClr val="000000"/>
                </a:solidFill>
                <a:latin typeface="Calibri"/>
              </a:rPr>
              <a:t>MovieLens CSV</a:t>
            </a:r>
            <a:endParaRPr/>
          </a:p>
        </p:txBody>
      </p:sp>
      <p:cxnSp>
        <p:nvCxnSpPr>
          <p:cNvPr id="1712358412" name="Connector 22"/>
          <p:cNvCxnSpPr/>
          <p:nvPr/>
        </p:nvCxnSpPr>
        <p:spPr bwMode="auto">
          <a:xfrm>
            <a:off x="10241280" y="1645920"/>
            <a:ext cx="0" cy="2743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6112940" name="Rectangle 23"/>
          <p:cNvSpPr/>
          <p:nvPr/>
        </p:nvSpPr>
        <p:spPr bwMode="auto">
          <a:xfrm>
            <a:off x="8732520" y="1920240"/>
            <a:ext cx="3017519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>
              <a:defRPr/>
            </a:pPr>
            <a:r>
              <a:rPr sz="1100" b="1">
                <a:solidFill>
                  <a:srgbClr val="000000"/>
                </a:solidFill>
                <a:latin typeface="Calibri"/>
              </a:rPr>
              <a:t>HDFS /data/raw</a:t>
            </a:r>
            <a:endParaRPr/>
          </a:p>
        </p:txBody>
      </p:sp>
      <p:cxnSp>
        <p:nvCxnSpPr>
          <p:cNvPr id="375714100" name="Connector 24"/>
          <p:cNvCxnSpPr/>
          <p:nvPr/>
        </p:nvCxnSpPr>
        <p:spPr bwMode="auto">
          <a:xfrm>
            <a:off x="10241280" y="2377440"/>
            <a:ext cx="0" cy="2743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07181" name="Rectangle 25"/>
          <p:cNvSpPr/>
          <p:nvPr/>
        </p:nvSpPr>
        <p:spPr bwMode="auto">
          <a:xfrm>
            <a:off x="8732520" y="2651760"/>
            <a:ext cx="3017519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>
              <a:defRPr/>
            </a:pPr>
            <a:r>
              <a:rPr sz="1100" b="1">
                <a:solidFill>
                  <a:srgbClr val="000000"/>
                </a:solidFill>
                <a:latin typeface="Calibri"/>
              </a:rPr>
              <a:t>Spark MLlib (ALS)</a:t>
            </a:r>
            <a:endParaRPr/>
          </a:p>
        </p:txBody>
      </p:sp>
      <p:cxnSp>
        <p:nvCxnSpPr>
          <p:cNvPr id="1086343334" name="Connector 26"/>
          <p:cNvCxnSpPr/>
          <p:nvPr/>
        </p:nvCxnSpPr>
        <p:spPr bwMode="auto">
          <a:xfrm>
            <a:off x="10241280" y="3108960"/>
            <a:ext cx="0" cy="2743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5191885" name="Rectangle 27"/>
          <p:cNvSpPr/>
          <p:nvPr/>
        </p:nvSpPr>
        <p:spPr bwMode="auto">
          <a:xfrm>
            <a:off x="8732520" y="3383280"/>
            <a:ext cx="3017519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>
              <a:defRPr/>
            </a:pPr>
            <a:r>
              <a:rPr sz="1100" b="1">
                <a:solidFill>
                  <a:srgbClr val="000000"/>
                </a:solidFill>
                <a:latin typeface="Calibri"/>
              </a:rPr>
              <a:t>MongoDB 7</a:t>
            </a:r>
            <a:endParaRPr/>
          </a:p>
        </p:txBody>
      </p:sp>
      <p:cxnSp>
        <p:nvCxnSpPr>
          <p:cNvPr id="169359622" name="Connector 28"/>
          <p:cNvCxnSpPr/>
          <p:nvPr/>
        </p:nvCxnSpPr>
        <p:spPr bwMode="auto">
          <a:xfrm>
            <a:off x="10241280" y="3840480"/>
            <a:ext cx="0" cy="2743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5138612" name="Rectangle 29"/>
          <p:cNvSpPr/>
          <p:nvPr/>
        </p:nvSpPr>
        <p:spPr bwMode="auto">
          <a:xfrm>
            <a:off x="8732520" y="4114800"/>
            <a:ext cx="3017519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>
              <a:defRPr/>
            </a:pPr>
            <a:r>
              <a:rPr sz="1100" b="1">
                <a:solidFill>
                  <a:srgbClr val="000000"/>
                </a:solidFill>
                <a:latin typeface="Calibri"/>
              </a:rPr>
              <a:t>Flask UI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E6E6E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871216" name="Text 0"/>
          <p:cNvSpPr txBox="1"/>
          <p:nvPr/>
        </p:nvSpPr>
        <p:spPr bwMode="auto"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Workflow</a:t>
            </a:r>
            <a:endParaRPr lang="en-US" sz="3000"/>
          </a:p>
        </p:txBody>
      </p:sp>
      <p:sp>
        <p:nvSpPr>
          <p:cNvPr id="2003086019" name="Shape 30"/>
          <p:cNvSpPr/>
          <p:nvPr/>
        </p:nvSpPr>
        <p:spPr bwMode="auto">
          <a:xfrm>
            <a:off x="0" y="6446520"/>
            <a:ext cx="12188952" cy="41148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1711891430" name="Text 31"/>
          <p:cNvSpPr txBox="1"/>
          <p:nvPr/>
        </p:nvSpPr>
        <p:spPr bwMode="auto">
          <a:xfrm>
            <a:off x="11430000" y="6446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6</a:t>
            </a:r>
            <a:endParaRPr lang="en-US" sz="1200"/>
          </a:p>
        </p:txBody>
      </p:sp>
      <p:sp>
        <p:nvSpPr>
          <p:cNvPr id="470035701" name="Rectangle 33"/>
          <p:cNvSpPr/>
          <p:nvPr/>
        </p:nvSpPr>
        <p:spPr bwMode="auto">
          <a:xfrm>
            <a:off x="877824" y="1691640"/>
            <a:ext cx="182880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>
              <a:defRPr/>
            </a:pPr>
            <a:r>
              <a:rPr sz="1100" b="1">
                <a:solidFill>
                  <a:srgbClr val="000000"/>
                </a:solidFill>
                <a:latin typeface="Calibri"/>
              </a:rPr>
              <a:t>1 · Download</a:t>
            </a:r>
            <a:endParaRPr/>
          </a:p>
          <a:p>
            <a:pPr algn="ctr">
              <a:defRPr/>
            </a:pPr>
            <a:r>
              <a:rPr sz="1100" b="1">
                <a:solidFill>
                  <a:srgbClr val="000000"/>
                </a:solidFill>
                <a:latin typeface="Calibri"/>
              </a:rPr>
              <a:t>MovieLens</a:t>
            </a:r>
            <a:endParaRPr/>
          </a:p>
        </p:txBody>
      </p:sp>
      <p:sp>
        <p:nvSpPr>
          <p:cNvPr id="1605980625" name="Rectangle 34"/>
          <p:cNvSpPr/>
          <p:nvPr/>
        </p:nvSpPr>
        <p:spPr bwMode="auto">
          <a:xfrm>
            <a:off x="3026664" y="1691640"/>
            <a:ext cx="182880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>
              <a:defRPr/>
            </a:pPr>
            <a:r>
              <a:rPr sz="1100" b="1">
                <a:solidFill>
                  <a:srgbClr val="000000"/>
                </a:solidFill>
                <a:latin typeface="Calibri"/>
              </a:rPr>
              <a:t>2 · Load CSVs</a:t>
            </a:r>
            <a:endParaRPr/>
          </a:p>
          <a:p>
            <a:pPr algn="ctr">
              <a:defRPr/>
            </a:pPr>
            <a:r>
              <a:rPr sz="1100" b="1">
                <a:solidFill>
                  <a:srgbClr val="000000"/>
                </a:solidFill>
                <a:latin typeface="Calibri"/>
              </a:rPr>
              <a:t>into HDFS</a:t>
            </a:r>
            <a:endParaRPr/>
          </a:p>
        </p:txBody>
      </p:sp>
      <p:sp>
        <p:nvSpPr>
          <p:cNvPr id="1566824871" name="Rectangle 35"/>
          <p:cNvSpPr/>
          <p:nvPr/>
        </p:nvSpPr>
        <p:spPr bwMode="auto">
          <a:xfrm>
            <a:off x="5184648" y="1691640"/>
            <a:ext cx="182880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>
              <a:defRPr/>
            </a:pPr>
            <a:r>
              <a:rPr sz="1100" b="1">
                <a:solidFill>
                  <a:srgbClr val="000000"/>
                </a:solidFill>
                <a:latin typeface="Calibri"/>
              </a:rPr>
              <a:t>3 · Train ALS</a:t>
            </a:r>
            <a:endParaRPr/>
          </a:p>
          <a:p>
            <a:pPr algn="ctr">
              <a:defRPr/>
            </a:pPr>
            <a:r>
              <a:rPr sz="1100" b="1">
                <a:solidFill>
                  <a:srgbClr val="000000"/>
                </a:solidFill>
                <a:latin typeface="Calibri"/>
              </a:rPr>
              <a:t>(Spark MLlib)</a:t>
            </a:r>
            <a:endParaRPr/>
          </a:p>
        </p:txBody>
      </p:sp>
      <p:sp>
        <p:nvSpPr>
          <p:cNvPr id="1010809184" name="Rectangle 36"/>
          <p:cNvSpPr/>
          <p:nvPr/>
        </p:nvSpPr>
        <p:spPr bwMode="auto">
          <a:xfrm>
            <a:off x="7333488" y="1691640"/>
            <a:ext cx="182880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>
              <a:defRPr/>
            </a:pPr>
            <a:r>
              <a:rPr sz="1100" b="1">
                <a:solidFill>
                  <a:srgbClr val="000000"/>
                </a:solidFill>
                <a:latin typeface="Calibri"/>
              </a:rPr>
              <a:t>4 · Top-10 lists</a:t>
            </a:r>
            <a:endParaRPr/>
          </a:p>
          <a:p>
            <a:pPr algn="ctr">
              <a:defRPr/>
            </a:pPr>
            <a:r>
              <a:rPr sz="1100" b="1">
                <a:solidFill>
                  <a:srgbClr val="000000"/>
                </a:solidFill>
                <a:latin typeface="Calibri"/>
              </a:rPr>
              <a:t>→ MongoDB</a:t>
            </a:r>
            <a:endParaRPr/>
          </a:p>
        </p:txBody>
      </p:sp>
      <p:sp>
        <p:nvSpPr>
          <p:cNvPr id="1957768886" name="Rectangle 37"/>
          <p:cNvSpPr/>
          <p:nvPr/>
        </p:nvSpPr>
        <p:spPr bwMode="auto">
          <a:xfrm>
            <a:off x="9482328" y="1691640"/>
            <a:ext cx="182880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>
              <a:defRPr/>
            </a:pPr>
            <a:r>
              <a:rPr sz="1100" b="1">
                <a:solidFill>
                  <a:srgbClr val="000000"/>
                </a:solidFill>
                <a:latin typeface="Calibri"/>
              </a:rPr>
              <a:t>5 · Movie stats</a:t>
            </a:r>
            <a:endParaRPr/>
          </a:p>
          <a:p>
            <a:pPr algn="ctr">
              <a:defRPr/>
            </a:pPr>
            <a:r>
              <a:rPr sz="1100" b="1">
                <a:solidFill>
                  <a:srgbClr val="000000"/>
                </a:solidFill>
                <a:latin typeface="Calibri"/>
              </a:rPr>
              <a:t>→ HDFS Parquet</a:t>
            </a:r>
            <a:endParaRPr/>
          </a:p>
        </p:txBody>
      </p:sp>
      <p:cxnSp>
        <p:nvCxnSpPr>
          <p:cNvPr id="2134354889" name="Connector 38"/>
          <p:cNvCxnSpPr/>
          <p:nvPr/>
        </p:nvCxnSpPr>
        <p:spPr bwMode="auto">
          <a:xfrm>
            <a:off x="2706624" y="2148840"/>
            <a:ext cx="3200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66783" name="Connector 39"/>
          <p:cNvCxnSpPr/>
          <p:nvPr/>
        </p:nvCxnSpPr>
        <p:spPr bwMode="auto">
          <a:xfrm>
            <a:off x="4855464" y="2148840"/>
            <a:ext cx="3200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5676501" name="Connector 40"/>
          <p:cNvCxnSpPr/>
          <p:nvPr/>
        </p:nvCxnSpPr>
        <p:spPr bwMode="auto">
          <a:xfrm>
            <a:off x="7013448" y="2148840"/>
            <a:ext cx="3200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2923982" name="Connector 41"/>
          <p:cNvCxnSpPr/>
          <p:nvPr/>
        </p:nvCxnSpPr>
        <p:spPr bwMode="auto">
          <a:xfrm>
            <a:off x="9162288" y="2148840"/>
            <a:ext cx="3200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746568" name="Connector 42"/>
          <p:cNvCxnSpPr/>
          <p:nvPr/>
        </p:nvCxnSpPr>
        <p:spPr bwMode="auto">
          <a:xfrm>
            <a:off x="10396728" y="2606040"/>
            <a:ext cx="0" cy="1371599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7440506" name="Rectangle 43"/>
          <p:cNvSpPr/>
          <p:nvPr/>
        </p:nvSpPr>
        <p:spPr bwMode="auto">
          <a:xfrm>
            <a:off x="9482328" y="3977639"/>
            <a:ext cx="182880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>
              <a:defRPr/>
            </a:pPr>
            <a:r>
              <a:rPr sz="1100" b="1">
                <a:solidFill>
                  <a:srgbClr val="000000"/>
                </a:solidFill>
                <a:latin typeface="Calibri"/>
              </a:rPr>
              <a:t>6 · Hive tables</a:t>
            </a:r>
            <a:endParaRPr/>
          </a:p>
          <a:p>
            <a:pPr algn="ctr">
              <a:defRPr/>
            </a:pPr>
            <a:r>
              <a:rPr sz="1100" b="1">
                <a:solidFill>
                  <a:srgbClr val="000000"/>
                </a:solidFill>
                <a:latin typeface="Calibri"/>
              </a:rPr>
              <a:t>→ 3 CSV reports</a:t>
            </a:r>
            <a:endParaRPr/>
          </a:p>
        </p:txBody>
      </p:sp>
      <p:sp>
        <p:nvSpPr>
          <p:cNvPr id="123578636" name="Rectangle 44"/>
          <p:cNvSpPr/>
          <p:nvPr/>
        </p:nvSpPr>
        <p:spPr bwMode="auto">
          <a:xfrm>
            <a:off x="7333488" y="3977639"/>
            <a:ext cx="182880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>
              <a:defRPr/>
            </a:pPr>
            <a:r>
              <a:rPr sz="1100" b="1">
                <a:solidFill>
                  <a:srgbClr val="000000"/>
                </a:solidFill>
                <a:latin typeface="Calibri"/>
              </a:rPr>
              <a:t>7 · Flask UI</a:t>
            </a:r>
            <a:endParaRPr/>
          </a:p>
          <a:p>
            <a:pPr algn="ctr">
              <a:defRPr/>
            </a:pPr>
            <a:r>
              <a:rPr sz="1100" b="1">
                <a:solidFill>
                  <a:srgbClr val="000000"/>
                </a:solidFill>
                <a:latin typeface="Calibri"/>
              </a:rPr>
              <a:t>serves users</a:t>
            </a:r>
            <a:endParaRPr/>
          </a:p>
        </p:txBody>
      </p:sp>
      <p:sp>
        <p:nvSpPr>
          <p:cNvPr id="1660166228" name="Rectangle 45"/>
          <p:cNvSpPr/>
          <p:nvPr/>
        </p:nvSpPr>
        <p:spPr bwMode="auto">
          <a:xfrm>
            <a:off x="5184648" y="3977639"/>
            <a:ext cx="182880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>
              <a:defRPr/>
            </a:pPr>
            <a:r>
              <a:rPr sz="1100" b="1">
                <a:solidFill>
                  <a:srgbClr val="000000"/>
                </a:solidFill>
                <a:latin typeface="Calibri"/>
              </a:rPr>
              <a:t>8 · Mark as</a:t>
            </a:r>
            <a:endParaRPr/>
          </a:p>
          <a:p>
            <a:pPr algn="ctr">
              <a:defRPr/>
            </a:pPr>
            <a:r>
              <a:rPr sz="1100" b="1">
                <a:solidFill>
                  <a:srgbClr val="000000"/>
                </a:solidFill>
                <a:latin typeface="Calibri"/>
              </a:rPr>
              <a:t>watched</a:t>
            </a:r>
            <a:endParaRPr/>
          </a:p>
        </p:txBody>
      </p:sp>
      <p:cxnSp>
        <p:nvCxnSpPr>
          <p:cNvPr id="759772599" name="Connector 46"/>
          <p:cNvCxnSpPr/>
          <p:nvPr/>
        </p:nvCxnSpPr>
        <p:spPr bwMode="auto">
          <a:xfrm flipH="1">
            <a:off x="9162288" y="4434840"/>
            <a:ext cx="3200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0424784" name="Connector 47"/>
          <p:cNvCxnSpPr/>
          <p:nvPr/>
        </p:nvCxnSpPr>
        <p:spPr bwMode="auto">
          <a:xfrm flipH="1">
            <a:off x="7013448" y="4434840"/>
            <a:ext cx="3200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322430" name="Connector 48"/>
          <p:cNvCxnSpPr/>
          <p:nvPr/>
        </p:nvCxnSpPr>
        <p:spPr bwMode="auto">
          <a:xfrm flipV="1">
            <a:off x="6099048" y="2606040"/>
            <a:ext cx="0" cy="1371599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872581" name="TextBox 49"/>
          <p:cNvSpPr txBox="1"/>
          <p:nvPr/>
        </p:nvSpPr>
        <p:spPr bwMode="auto">
          <a:xfrm>
            <a:off x="6208776" y="31546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900" b="0" i="1">
                <a:solidFill>
                  <a:srgbClr val="000000"/>
                </a:solidFill>
                <a:latin typeface="Calibri"/>
              </a:rPr>
              <a:t>new ratings → retrain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E6E6E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3362268" name="Text 0"/>
          <p:cNvSpPr txBox="1"/>
          <p:nvPr/>
        </p:nvSpPr>
        <p:spPr bwMode="auto"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System Architecture</a:t>
            </a:r>
            <a:endParaRPr lang="en-US" sz="3000"/>
          </a:p>
        </p:txBody>
      </p:sp>
      <p:sp>
        <p:nvSpPr>
          <p:cNvPr id="598716026" name="Text 1"/>
          <p:cNvSpPr txBox="1"/>
          <p:nvPr/>
        </p:nvSpPr>
        <p:spPr bwMode="auto">
          <a:xfrm>
            <a:off x="548640" y="1463040"/>
            <a:ext cx="5120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  <a:defRPr/>
            </a:pPr>
            <a:r>
              <a:rPr lang="en-US" sz="13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Ingestion: make setup loads ratings.csv and movies.csv into /data/raw on HDFS (replication 1).</a:t>
            </a:r>
            <a:endParaRPr lang="en-US" sz="130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  <a:defRPr/>
            </a:pPr>
            <a:r>
              <a:rPr lang="en-US" sz="13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Storage: the NameNode keeps metadata; the DataNode stores blocks on a Docker volume.</a:t>
            </a:r>
            <a:endParaRPr lang="en-US" sz="130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  <a:defRPr/>
            </a:pPr>
            <a:r>
              <a:rPr lang="en-US" sz="13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Processing: Spark Standalone runs the Scala ALS job; movie stats return to HDFS as Parquet.</a:t>
            </a:r>
            <a:endParaRPr lang="en-US" sz="130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  <a:defRPr/>
            </a:pPr>
            <a:r>
              <a:rPr lang="en-US" sz="13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Serving: MongoDB holds recommendations, user_ratings and catalog; Flask reads and writes it.</a:t>
            </a:r>
            <a:endParaRPr lang="en-US" sz="130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  <a:defRPr/>
            </a:pPr>
            <a:r>
              <a:rPr lang="en-US" sz="13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Analytics: Hive queries the CSVs in place and exports report CSVs that the UI reads.</a:t>
            </a:r>
            <a:endParaRPr lang="en-US" sz="1300"/>
          </a:p>
        </p:txBody>
      </p:sp>
      <p:sp>
        <p:nvSpPr>
          <p:cNvPr id="1883796750" name="Shape 36"/>
          <p:cNvSpPr/>
          <p:nvPr/>
        </p:nvSpPr>
        <p:spPr bwMode="auto">
          <a:xfrm>
            <a:off x="0" y="6446520"/>
            <a:ext cx="12188952" cy="41148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85889469" name="Text 37"/>
          <p:cNvSpPr txBox="1"/>
          <p:nvPr/>
        </p:nvSpPr>
        <p:spPr bwMode="auto">
          <a:xfrm>
            <a:off x="11430000" y="6446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7</a:t>
            </a:r>
            <a:endParaRPr lang="en-US" sz="1200"/>
          </a:p>
        </p:txBody>
      </p:sp>
      <p:sp>
        <p:nvSpPr>
          <p:cNvPr id="1591556342" name="Rectangle 39"/>
          <p:cNvSpPr/>
          <p:nvPr/>
        </p:nvSpPr>
        <p:spPr bwMode="auto">
          <a:xfrm>
            <a:off x="6035039" y="1005840"/>
            <a:ext cx="274320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>
              <a:defRPr/>
            </a:pPr>
            <a:r>
              <a:rPr sz="950" b="1">
                <a:solidFill>
                  <a:srgbClr val="000000"/>
                </a:solidFill>
                <a:latin typeface="Calibri"/>
              </a:rPr>
              <a:t>MovieLens CSVs (make setup)</a:t>
            </a:r>
            <a:endParaRPr/>
          </a:p>
        </p:txBody>
      </p:sp>
      <p:sp>
        <p:nvSpPr>
          <p:cNvPr id="1323303345" name="Rectangle 40"/>
          <p:cNvSpPr/>
          <p:nvPr/>
        </p:nvSpPr>
        <p:spPr bwMode="auto">
          <a:xfrm>
            <a:off x="9006840" y="1005840"/>
            <a:ext cx="274320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>
              <a:defRPr/>
            </a:pPr>
            <a:r>
              <a:rPr sz="950" b="1">
                <a:solidFill>
                  <a:srgbClr val="000000"/>
                </a:solidFill>
                <a:latin typeface="Calibri"/>
              </a:rPr>
              <a:t>User ratings (Flask /watch)</a:t>
            </a:r>
            <a:endParaRPr/>
          </a:p>
        </p:txBody>
      </p:sp>
      <p:sp>
        <p:nvSpPr>
          <p:cNvPr id="188571337" name="Rectangle 41"/>
          <p:cNvSpPr/>
          <p:nvPr/>
        </p:nvSpPr>
        <p:spPr bwMode="auto">
          <a:xfrm>
            <a:off x="6035039" y="1874519"/>
            <a:ext cx="5715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>
              <a:defRPr/>
            </a:pPr>
            <a:r>
              <a:rPr sz="950" b="1">
                <a:solidFill>
                  <a:srgbClr val="000000"/>
                </a:solidFill>
                <a:latin typeface="Calibri"/>
              </a:rPr>
              <a:t>HDFS 3.3.6 - NameNode (metadata) + DataNode (blocks)</a:t>
            </a:r>
            <a:endParaRPr/>
          </a:p>
          <a:p>
            <a:pPr algn="ctr">
              <a:defRPr/>
            </a:pPr>
            <a:r>
              <a:rPr sz="950" b="1">
                <a:solidFill>
                  <a:srgbClr val="000000"/>
                </a:solidFill>
                <a:latin typeface="Calibri"/>
              </a:rPr>
              <a:t>/data/raw · /data/processed · replication 1</a:t>
            </a:r>
            <a:endParaRPr/>
          </a:p>
        </p:txBody>
      </p:sp>
      <p:cxnSp>
        <p:nvCxnSpPr>
          <p:cNvPr id="878876542" name="Connector 42"/>
          <p:cNvCxnSpPr/>
          <p:nvPr/>
        </p:nvCxnSpPr>
        <p:spPr bwMode="auto">
          <a:xfrm>
            <a:off x="7406640" y="1463040"/>
            <a:ext cx="365760" cy="411479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128443" name="Connector 43"/>
          <p:cNvCxnSpPr/>
          <p:nvPr/>
        </p:nvCxnSpPr>
        <p:spPr bwMode="auto">
          <a:xfrm flipH="1">
            <a:off x="10012680" y="1463040"/>
            <a:ext cx="365760" cy="411479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8655289" name="Rectangle 44"/>
          <p:cNvSpPr/>
          <p:nvPr/>
        </p:nvSpPr>
        <p:spPr bwMode="auto">
          <a:xfrm>
            <a:off x="6035039" y="3017519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>
              <a:defRPr/>
            </a:pPr>
            <a:r>
              <a:rPr sz="950" b="1">
                <a:solidFill>
                  <a:srgbClr val="000000"/>
                </a:solidFill>
                <a:latin typeface="Calibri"/>
              </a:rPr>
              <a:t>Spark Standalone</a:t>
            </a:r>
            <a:endParaRPr/>
          </a:p>
          <a:p>
            <a:pPr algn="ctr">
              <a:defRPr/>
            </a:pPr>
            <a:r>
              <a:rPr sz="950" b="1">
                <a:solidFill>
                  <a:srgbClr val="000000"/>
                </a:solidFill>
                <a:latin typeface="Calibri"/>
              </a:rPr>
              <a:t>Master + Worker · Scala ALS job</a:t>
            </a:r>
            <a:endParaRPr/>
          </a:p>
        </p:txBody>
      </p:sp>
      <p:sp>
        <p:nvSpPr>
          <p:cNvPr id="2021827808" name="Rectangle 45"/>
          <p:cNvSpPr/>
          <p:nvPr/>
        </p:nvSpPr>
        <p:spPr bwMode="auto">
          <a:xfrm>
            <a:off x="9006840" y="3017519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>
              <a:defRPr/>
            </a:pPr>
            <a:r>
              <a:rPr sz="950" b="1">
                <a:solidFill>
                  <a:srgbClr val="000000"/>
                </a:solidFill>
                <a:latin typeface="Calibri"/>
              </a:rPr>
              <a:t>Hive 3.1.3</a:t>
            </a:r>
            <a:endParaRPr/>
          </a:p>
          <a:p>
            <a:pPr algn="ctr">
              <a:defRPr/>
            </a:pPr>
            <a:r>
              <a:rPr sz="950" b="1">
                <a:solidFill>
                  <a:srgbClr val="000000"/>
                </a:solidFill>
                <a:latin typeface="Calibri"/>
              </a:rPr>
              <a:t>external tables · 3 reports</a:t>
            </a:r>
            <a:endParaRPr/>
          </a:p>
        </p:txBody>
      </p:sp>
      <p:cxnSp>
        <p:nvCxnSpPr>
          <p:cNvPr id="186575793" name="Connector 46"/>
          <p:cNvCxnSpPr/>
          <p:nvPr/>
        </p:nvCxnSpPr>
        <p:spPr bwMode="auto">
          <a:xfrm>
            <a:off x="7406640" y="2514600"/>
            <a:ext cx="0" cy="5029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899215" name="Connector 47"/>
          <p:cNvCxnSpPr/>
          <p:nvPr/>
        </p:nvCxnSpPr>
        <p:spPr bwMode="auto">
          <a:xfrm>
            <a:off x="10378440" y="2514600"/>
            <a:ext cx="0" cy="5029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0605530" name="Rectangle 48"/>
          <p:cNvSpPr/>
          <p:nvPr/>
        </p:nvSpPr>
        <p:spPr bwMode="auto">
          <a:xfrm>
            <a:off x="6035039" y="4343400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>
              <a:defRPr/>
            </a:pPr>
            <a:r>
              <a:rPr sz="950" b="1">
                <a:solidFill>
                  <a:srgbClr val="000000"/>
                </a:solidFill>
                <a:latin typeface="Calibri"/>
              </a:rPr>
              <a:t>MongoDB 7 - recommendations · user_ratings · catalog</a:t>
            </a:r>
            <a:endParaRPr/>
          </a:p>
        </p:txBody>
      </p:sp>
      <p:sp>
        <p:nvSpPr>
          <p:cNvPr id="1312973133" name="Rectangle 49"/>
          <p:cNvSpPr/>
          <p:nvPr/>
        </p:nvSpPr>
        <p:spPr bwMode="auto">
          <a:xfrm>
            <a:off x="6035039" y="5394960"/>
            <a:ext cx="571500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>
              <a:defRPr/>
            </a:pPr>
            <a:r>
              <a:rPr sz="950" b="1">
                <a:solidFill>
                  <a:srgbClr val="000000"/>
                </a:solidFill>
                <a:latin typeface="Calibri"/>
              </a:rPr>
              <a:t>Flask :5000 - top-10 UI · rating history · /reports page</a:t>
            </a:r>
            <a:endParaRPr/>
          </a:p>
        </p:txBody>
      </p:sp>
      <p:cxnSp>
        <p:nvCxnSpPr>
          <p:cNvPr id="866025521" name="Connector 50"/>
          <p:cNvCxnSpPr/>
          <p:nvPr/>
        </p:nvCxnSpPr>
        <p:spPr bwMode="auto">
          <a:xfrm>
            <a:off x="8138159" y="3749039"/>
            <a:ext cx="0" cy="594361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5664451" name="Connector 51"/>
          <p:cNvCxnSpPr/>
          <p:nvPr/>
        </p:nvCxnSpPr>
        <p:spPr bwMode="auto">
          <a:xfrm flipV="1">
            <a:off x="6949440" y="3749039"/>
            <a:ext cx="0" cy="594361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6261824" name="TextBox 52"/>
          <p:cNvSpPr txBox="1"/>
          <p:nvPr/>
        </p:nvSpPr>
        <p:spPr bwMode="auto">
          <a:xfrm>
            <a:off x="8247888" y="391363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850" b="0" i="1">
                <a:solidFill>
                  <a:srgbClr val="000000"/>
                </a:solidFill>
                <a:latin typeface="Calibri"/>
              </a:rPr>
              <a:t>recs</a:t>
            </a:r>
            <a:endParaRPr/>
          </a:p>
        </p:txBody>
      </p:sp>
      <p:sp>
        <p:nvSpPr>
          <p:cNvPr id="829290087" name="TextBox 53"/>
          <p:cNvSpPr txBox="1"/>
          <p:nvPr/>
        </p:nvSpPr>
        <p:spPr bwMode="auto">
          <a:xfrm>
            <a:off x="6080759" y="3913632"/>
            <a:ext cx="822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850" b="0" i="1">
                <a:solidFill>
                  <a:srgbClr val="000000"/>
                </a:solidFill>
                <a:latin typeface="Calibri"/>
              </a:rPr>
              <a:t>ratings</a:t>
            </a:r>
            <a:endParaRPr/>
          </a:p>
        </p:txBody>
      </p:sp>
      <p:cxnSp>
        <p:nvCxnSpPr>
          <p:cNvPr id="353411616" name="Connector 54"/>
          <p:cNvCxnSpPr/>
          <p:nvPr/>
        </p:nvCxnSpPr>
        <p:spPr bwMode="auto">
          <a:xfrm>
            <a:off x="8138159" y="4892039"/>
            <a:ext cx="0" cy="5029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2606921" name="Connector 55"/>
          <p:cNvCxnSpPr/>
          <p:nvPr/>
        </p:nvCxnSpPr>
        <p:spPr bwMode="auto">
          <a:xfrm>
            <a:off x="10972800" y="3749039"/>
            <a:ext cx="0" cy="1645921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65223" name="TextBox 56"/>
          <p:cNvSpPr txBox="1"/>
          <p:nvPr/>
        </p:nvSpPr>
        <p:spPr bwMode="auto">
          <a:xfrm>
            <a:off x="6035039" y="6035039"/>
            <a:ext cx="5715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850" b="0" i="1">
                <a:solidFill>
                  <a:srgbClr val="000000"/>
                </a:solidFill>
                <a:latin typeface="Calibri"/>
              </a:rPr>
              <a:t>solid = batch / serving path · dashed = new ratings returned for retraining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6261158" name="TextBox 1"/>
          <p:cNvSpPr txBox="1"/>
          <p:nvPr/>
        </p:nvSpPr>
        <p:spPr bwMode="auto"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sz="3000">
                <a:solidFill>
                  <a:srgbClr val="000000"/>
                </a:solidFill>
                <a:latin typeface="Cambria"/>
              </a:rPr>
              <a:t>Hadoop Cluster Structure</a:t>
            </a:r>
            <a:endParaRPr/>
          </a:p>
        </p:txBody>
      </p:sp>
      <p:sp>
        <p:nvSpPr>
          <p:cNvPr id="948397958" name="Shape 36"/>
          <p:cNvSpPr/>
          <p:nvPr/>
        </p:nvSpPr>
        <p:spPr bwMode="auto">
          <a:xfrm>
            <a:off x="0" y="6446520"/>
            <a:ext cx="12188952" cy="41148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1149302498" name="Text 37"/>
          <p:cNvSpPr txBox="1"/>
          <p:nvPr/>
        </p:nvSpPr>
        <p:spPr bwMode="auto">
          <a:xfrm>
            <a:off x="11430000" y="6446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8</a:t>
            </a:r>
            <a:endParaRPr lang="en-US" sz="1200"/>
          </a:p>
        </p:txBody>
      </p:sp>
      <p:sp>
        <p:nvSpPr>
          <p:cNvPr id="370505371" name="Rectangle 39"/>
          <p:cNvSpPr/>
          <p:nvPr/>
        </p:nvSpPr>
        <p:spPr bwMode="auto">
          <a:xfrm>
            <a:off x="548640" y="1188720"/>
            <a:ext cx="11091672" cy="448056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t"/>
          <a:lstStyle/>
          <a:p>
            <a:pPr algn="ctr">
              <a:defRPr/>
            </a:pPr>
            <a:r>
              <a:rPr sz="1100" b="1">
                <a:solidFill>
                  <a:srgbClr val="000000"/>
                </a:solidFill>
                <a:latin typeface="Calibri"/>
              </a:rPr>
              <a:t>Docker host - docker-compose, 8 containers</a:t>
            </a:r>
            <a:endParaRPr/>
          </a:p>
        </p:txBody>
      </p:sp>
      <p:sp>
        <p:nvSpPr>
          <p:cNvPr id="114518165" name="Rectangle 40"/>
          <p:cNvSpPr/>
          <p:nvPr/>
        </p:nvSpPr>
        <p:spPr bwMode="auto">
          <a:xfrm>
            <a:off x="868680" y="1737360"/>
            <a:ext cx="32461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1554977" name="TextBox 41"/>
          <p:cNvSpPr txBox="1"/>
          <p:nvPr/>
        </p:nvSpPr>
        <p:spPr bwMode="auto">
          <a:xfrm>
            <a:off x="868680" y="1847088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000000"/>
                </a:solidFill>
                <a:latin typeface="Calibri"/>
              </a:rPr>
              <a:t>HDFS 3.3.6</a:t>
            </a:r>
            <a:endParaRPr/>
          </a:p>
        </p:txBody>
      </p:sp>
      <p:sp>
        <p:nvSpPr>
          <p:cNvPr id="1502230767" name="Rectangle 42"/>
          <p:cNvSpPr/>
          <p:nvPr/>
        </p:nvSpPr>
        <p:spPr bwMode="auto">
          <a:xfrm>
            <a:off x="1051560" y="2240280"/>
            <a:ext cx="288036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>
              <a:defRPr/>
            </a:pPr>
            <a:r>
              <a:rPr sz="950" b="1">
                <a:solidFill>
                  <a:srgbClr val="000000"/>
                </a:solidFill>
                <a:latin typeface="Calibri"/>
              </a:rPr>
              <a:t>NameNode</a:t>
            </a:r>
            <a:endParaRPr/>
          </a:p>
          <a:p>
            <a:pPr algn="ctr">
              <a:defRPr/>
            </a:pPr>
            <a:r>
              <a:rPr sz="950" b="1">
                <a:solidFill>
                  <a:srgbClr val="000000"/>
                </a:solidFill>
                <a:latin typeface="Calibri"/>
              </a:rPr>
              <a:t>metadata · UI :9870 · fs.defaultFS :9000</a:t>
            </a:r>
            <a:endParaRPr/>
          </a:p>
        </p:txBody>
      </p:sp>
      <p:sp>
        <p:nvSpPr>
          <p:cNvPr id="109676881" name="Rectangle 43"/>
          <p:cNvSpPr/>
          <p:nvPr/>
        </p:nvSpPr>
        <p:spPr bwMode="auto">
          <a:xfrm>
            <a:off x="1051560" y="3977639"/>
            <a:ext cx="288036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>
              <a:defRPr/>
            </a:pPr>
            <a:r>
              <a:rPr sz="950" b="1">
                <a:solidFill>
                  <a:srgbClr val="000000"/>
                </a:solidFill>
                <a:latin typeface="Calibri"/>
              </a:rPr>
              <a:t>DataNode</a:t>
            </a:r>
            <a:endParaRPr/>
          </a:p>
          <a:p>
            <a:pPr algn="ctr">
              <a:defRPr/>
            </a:pPr>
            <a:r>
              <a:rPr sz="950" b="1">
                <a:solidFill>
                  <a:srgbClr val="000000"/>
                </a:solidFill>
                <a:latin typeface="Calibri"/>
              </a:rPr>
              <a:t>stores blocks · replication 1</a:t>
            </a:r>
            <a:endParaRPr/>
          </a:p>
        </p:txBody>
      </p:sp>
      <p:cxnSp>
        <p:nvCxnSpPr>
          <p:cNvPr id="1326034425" name="Connector 44"/>
          <p:cNvCxnSpPr/>
          <p:nvPr/>
        </p:nvCxnSpPr>
        <p:spPr bwMode="auto">
          <a:xfrm>
            <a:off x="2487168" y="3246120"/>
            <a:ext cx="0" cy="731519"/>
          </a:xfrm>
          <a:prstGeom prst="line">
            <a:avLst/>
          </a:prstGeom>
          <a:ln w="1524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8103501" name="TextBox 45"/>
          <p:cNvSpPr txBox="1"/>
          <p:nvPr/>
        </p:nvSpPr>
        <p:spPr bwMode="auto">
          <a:xfrm>
            <a:off x="2606040" y="347472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850" b="0" i="1">
                <a:solidFill>
                  <a:srgbClr val="000000"/>
                </a:solidFill>
                <a:latin typeface="Calibri"/>
              </a:rPr>
              <a:t>block reports</a:t>
            </a:r>
            <a:endParaRPr/>
          </a:p>
        </p:txBody>
      </p:sp>
      <p:sp>
        <p:nvSpPr>
          <p:cNvPr id="1499865685" name="TextBox 46"/>
          <p:cNvSpPr txBox="1"/>
          <p:nvPr/>
        </p:nvSpPr>
        <p:spPr bwMode="auto">
          <a:xfrm>
            <a:off x="1051560" y="5029200"/>
            <a:ext cx="2880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800" b="0" i="1">
                <a:solidFill>
                  <a:srgbClr val="000000"/>
                </a:solidFill>
                <a:latin typeface="Calibri"/>
              </a:rPr>
              <a:t>CSVs + Parquet on named volumes</a:t>
            </a:r>
            <a:endParaRPr/>
          </a:p>
        </p:txBody>
      </p:sp>
      <p:sp>
        <p:nvSpPr>
          <p:cNvPr id="978284660" name="Rectangle 47"/>
          <p:cNvSpPr/>
          <p:nvPr/>
        </p:nvSpPr>
        <p:spPr bwMode="auto">
          <a:xfrm>
            <a:off x="4434840" y="1737360"/>
            <a:ext cx="32461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4863314" name="TextBox 48"/>
          <p:cNvSpPr txBox="1"/>
          <p:nvPr/>
        </p:nvSpPr>
        <p:spPr bwMode="auto">
          <a:xfrm>
            <a:off x="4434840" y="1847088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000000"/>
                </a:solidFill>
                <a:latin typeface="Calibri"/>
              </a:rPr>
              <a:t>Spark 3.5.1 Standalone</a:t>
            </a:r>
            <a:endParaRPr/>
          </a:p>
        </p:txBody>
      </p:sp>
      <p:sp>
        <p:nvSpPr>
          <p:cNvPr id="151738523" name="Rectangle 49"/>
          <p:cNvSpPr/>
          <p:nvPr/>
        </p:nvSpPr>
        <p:spPr bwMode="auto">
          <a:xfrm>
            <a:off x="4617720" y="2240280"/>
            <a:ext cx="288036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>
              <a:defRPr/>
            </a:pPr>
            <a:r>
              <a:rPr sz="950" b="1">
                <a:solidFill>
                  <a:srgbClr val="000000"/>
                </a:solidFill>
                <a:latin typeface="Calibri"/>
              </a:rPr>
              <a:t>Master</a:t>
            </a:r>
            <a:endParaRPr/>
          </a:p>
          <a:p>
            <a:pPr algn="ctr">
              <a:defRPr/>
            </a:pPr>
            <a:r>
              <a:rPr sz="950" b="1">
                <a:solidFill>
                  <a:srgbClr val="000000"/>
                </a:solidFill>
                <a:latin typeface="Calibri"/>
              </a:rPr>
              <a:t>schedules · RPC :7077 · UI :8080</a:t>
            </a:r>
            <a:endParaRPr/>
          </a:p>
        </p:txBody>
      </p:sp>
      <p:sp>
        <p:nvSpPr>
          <p:cNvPr id="1719234062" name="Rectangle 50"/>
          <p:cNvSpPr/>
          <p:nvPr/>
        </p:nvSpPr>
        <p:spPr bwMode="auto">
          <a:xfrm>
            <a:off x="4617720" y="3977639"/>
            <a:ext cx="288036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>
              <a:defRPr/>
            </a:pPr>
            <a:r>
              <a:rPr sz="950" b="1">
                <a:solidFill>
                  <a:srgbClr val="000000"/>
                </a:solidFill>
                <a:latin typeface="Calibri"/>
              </a:rPr>
              <a:t>Worker</a:t>
            </a:r>
            <a:endParaRPr/>
          </a:p>
          <a:p>
            <a:pPr algn="ctr">
              <a:defRPr/>
            </a:pPr>
            <a:r>
              <a:rPr sz="950" b="1">
                <a:solidFill>
                  <a:srgbClr val="000000"/>
                </a:solidFill>
                <a:latin typeface="Calibri"/>
              </a:rPr>
              <a:t>executes ALS job · 2 cores · 3 GB</a:t>
            </a:r>
            <a:endParaRPr/>
          </a:p>
        </p:txBody>
      </p:sp>
      <p:cxnSp>
        <p:nvCxnSpPr>
          <p:cNvPr id="1080007451" name="Connector 51"/>
          <p:cNvCxnSpPr/>
          <p:nvPr/>
        </p:nvCxnSpPr>
        <p:spPr bwMode="auto">
          <a:xfrm>
            <a:off x="6053328" y="3246120"/>
            <a:ext cx="0" cy="731519"/>
          </a:xfrm>
          <a:prstGeom prst="line">
            <a:avLst/>
          </a:prstGeom>
          <a:ln w="1524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5497509" name="TextBox 52"/>
          <p:cNvSpPr txBox="1"/>
          <p:nvPr/>
        </p:nvSpPr>
        <p:spPr bwMode="auto">
          <a:xfrm>
            <a:off x="6172200" y="347472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850" b="0" i="1">
                <a:solidFill>
                  <a:srgbClr val="000000"/>
                </a:solidFill>
                <a:latin typeface="Calibri"/>
              </a:rPr>
              <a:t>launch executors</a:t>
            </a:r>
            <a:endParaRPr/>
          </a:p>
        </p:txBody>
      </p:sp>
      <p:sp>
        <p:nvSpPr>
          <p:cNvPr id="2111006411" name="TextBox 53"/>
          <p:cNvSpPr txBox="1"/>
          <p:nvPr/>
        </p:nvSpPr>
        <p:spPr bwMode="auto">
          <a:xfrm>
            <a:off x="4617720" y="5029200"/>
            <a:ext cx="28803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800" b="0" i="1">
                <a:solidFill>
                  <a:srgbClr val="000000"/>
                </a:solidFill>
                <a:latin typeface="Calibri"/>
              </a:rPr>
              <a:t>job compiled by sbt in scala-build</a:t>
            </a:r>
            <a:endParaRPr/>
          </a:p>
        </p:txBody>
      </p:sp>
      <p:cxnSp>
        <p:nvCxnSpPr>
          <p:cNvPr id="1428768254" name="Connector 54"/>
          <p:cNvCxnSpPr/>
          <p:nvPr/>
        </p:nvCxnSpPr>
        <p:spPr bwMode="auto">
          <a:xfrm>
            <a:off x="4114800" y="4480560"/>
            <a:ext cx="502920" cy="0"/>
          </a:xfrm>
          <a:prstGeom prst="line">
            <a:avLst/>
          </a:prstGeom>
          <a:ln w="1524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2998165" name="TextBox 55"/>
          <p:cNvSpPr txBox="1"/>
          <p:nvPr/>
        </p:nvSpPr>
        <p:spPr bwMode="auto">
          <a:xfrm>
            <a:off x="4123944" y="4224528"/>
            <a:ext cx="4846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800" b="0" i="1">
                <a:solidFill>
                  <a:srgbClr val="000000"/>
                </a:solidFill>
                <a:latin typeface="Calibri"/>
              </a:rPr>
              <a:t>reads</a:t>
            </a:r>
            <a:endParaRPr/>
          </a:p>
        </p:txBody>
      </p:sp>
      <p:sp>
        <p:nvSpPr>
          <p:cNvPr id="926854868" name="Rectangle 56"/>
          <p:cNvSpPr/>
          <p:nvPr/>
        </p:nvSpPr>
        <p:spPr bwMode="auto">
          <a:xfrm>
            <a:off x="8001000" y="2240280"/>
            <a:ext cx="3337560" cy="73152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>
              <a:defRPr/>
            </a:pPr>
            <a:r>
              <a:rPr sz="950" b="1">
                <a:solidFill>
                  <a:srgbClr val="000000"/>
                </a:solidFill>
                <a:latin typeface="Calibri"/>
              </a:rPr>
              <a:t>Hive 3.1.3</a:t>
            </a:r>
            <a:endParaRPr/>
          </a:p>
          <a:p>
            <a:pPr algn="ctr">
              <a:defRPr/>
            </a:pPr>
            <a:r>
              <a:rPr sz="950" b="1">
                <a:solidFill>
                  <a:srgbClr val="000000"/>
                </a:solidFill>
                <a:latin typeface="Calibri"/>
              </a:rPr>
              <a:t>metastore + CLI · reads CSVs in HDFS</a:t>
            </a:r>
            <a:endParaRPr/>
          </a:p>
        </p:txBody>
      </p:sp>
      <p:sp>
        <p:nvSpPr>
          <p:cNvPr id="17565291" name="Rectangle 57"/>
          <p:cNvSpPr/>
          <p:nvPr/>
        </p:nvSpPr>
        <p:spPr bwMode="auto">
          <a:xfrm>
            <a:off x="8001000" y="3246120"/>
            <a:ext cx="3337560" cy="73152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>
              <a:defRPr/>
            </a:pPr>
            <a:r>
              <a:rPr sz="950" b="1">
                <a:solidFill>
                  <a:srgbClr val="000000"/>
                </a:solidFill>
                <a:latin typeface="Calibri"/>
              </a:rPr>
              <a:t>MongoDB 7</a:t>
            </a:r>
            <a:endParaRPr/>
          </a:p>
          <a:p>
            <a:pPr algn="ctr">
              <a:defRPr/>
            </a:pPr>
            <a:r>
              <a:rPr sz="950" b="1">
                <a:solidFill>
                  <a:srgbClr val="000000"/>
                </a:solidFill>
                <a:latin typeface="Calibri"/>
              </a:rPr>
              <a:t>recommendations · user_ratings</a:t>
            </a:r>
            <a:endParaRPr/>
          </a:p>
        </p:txBody>
      </p:sp>
      <p:sp>
        <p:nvSpPr>
          <p:cNvPr id="958649329" name="Rectangle 58"/>
          <p:cNvSpPr/>
          <p:nvPr/>
        </p:nvSpPr>
        <p:spPr bwMode="auto">
          <a:xfrm>
            <a:off x="8001000" y="4251960"/>
            <a:ext cx="3337560" cy="73152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3716" rIns="27432" bIns="13716" rtlCol="0" anchor="ctr"/>
          <a:lstStyle/>
          <a:p>
            <a:pPr algn="ctr">
              <a:defRPr/>
            </a:pPr>
            <a:r>
              <a:rPr sz="950" b="1">
                <a:solidFill>
                  <a:srgbClr val="000000"/>
                </a:solidFill>
                <a:latin typeface="Calibri"/>
              </a:rPr>
              <a:t>Flask web</a:t>
            </a:r>
            <a:endParaRPr/>
          </a:p>
          <a:p>
            <a:pPr algn="ctr">
              <a:defRPr/>
            </a:pPr>
            <a:r>
              <a:rPr sz="950" b="1">
                <a:solidFill>
                  <a:srgbClr val="000000"/>
                </a:solidFill>
                <a:latin typeface="Calibri"/>
              </a:rPr>
              <a:t>UI :5000 · mounted docker.sock</a:t>
            </a:r>
            <a:endParaRPr/>
          </a:p>
        </p:txBody>
      </p:sp>
      <p:cxnSp>
        <p:nvCxnSpPr>
          <p:cNvPr id="887585060" name="Connector 59"/>
          <p:cNvCxnSpPr/>
          <p:nvPr/>
        </p:nvCxnSpPr>
        <p:spPr bwMode="auto">
          <a:xfrm>
            <a:off x="7680960" y="3611880"/>
            <a:ext cx="320040" cy="0"/>
          </a:xfrm>
          <a:prstGeom prst="line">
            <a:avLst/>
          </a:prstGeom>
          <a:ln w="1524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0190011" name="Connector 60"/>
          <p:cNvCxnSpPr/>
          <p:nvPr/>
        </p:nvCxnSpPr>
        <p:spPr bwMode="auto">
          <a:xfrm flipV="1">
            <a:off x="9665208" y="3977639"/>
            <a:ext cx="0" cy="274321"/>
          </a:xfrm>
          <a:prstGeom prst="line">
            <a:avLst/>
          </a:prstGeom>
          <a:ln w="1524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8082394" name="TextBox 61"/>
          <p:cNvSpPr txBox="1"/>
          <p:nvPr/>
        </p:nvSpPr>
        <p:spPr bwMode="auto">
          <a:xfrm>
            <a:off x="9784079" y="4041648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800" b="0" i="1">
                <a:solidFill>
                  <a:srgbClr val="000000"/>
                </a:solidFill>
                <a:latin typeface="Calibri"/>
              </a:rPr>
              <a:t>serves</a:t>
            </a:r>
            <a:endParaRPr/>
          </a:p>
        </p:txBody>
      </p:sp>
      <p:sp>
        <p:nvSpPr>
          <p:cNvPr id="2087991425" name="TextBox 62"/>
          <p:cNvSpPr txBox="1"/>
          <p:nvPr/>
        </p:nvSpPr>
        <p:spPr bwMode="auto">
          <a:xfrm>
            <a:off x="548640" y="5852160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950" b="0" i="1">
                <a:solidFill>
                  <a:srgbClr val="000000"/>
                </a:solidFill>
                <a:latin typeface="Calibri"/>
              </a:rPr>
              <a:t>Named volumes - namenode_data · datanode_data · mongo_data · hive_data - persist all data across restarts and reboots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E6E6E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879926" name="Text 0"/>
          <p:cNvSpPr txBox="1"/>
          <p:nvPr/>
        </p:nvSpPr>
        <p:spPr bwMode="auto"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Modules Used - Part One</a:t>
            </a:r>
            <a:endParaRPr lang="en-US" sz="3000"/>
          </a:p>
        </p:txBody>
      </p:sp>
      <p:sp>
        <p:nvSpPr>
          <p:cNvPr id="1927225209" name="Shape 1"/>
          <p:cNvSpPr/>
          <p:nvPr/>
        </p:nvSpPr>
        <p:spPr bwMode="auto">
          <a:xfrm>
            <a:off x="548640" y="1417320"/>
            <a:ext cx="3520440" cy="4480560"/>
          </a:xfrm>
          <a:prstGeom prst="roundRect">
            <a:avLst>
              <a:gd name="adj" fmla="val 4675"/>
            </a:avLst>
          </a:prstGeom>
          <a:solidFill>
            <a:srgbClr val="E6E6E6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95227493" name="Text 2"/>
          <p:cNvSpPr txBox="1"/>
          <p:nvPr/>
        </p:nvSpPr>
        <p:spPr bwMode="auto">
          <a:xfrm>
            <a:off x="804672" y="16002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HDFS 3.3.6</a:t>
            </a:r>
            <a:endParaRPr lang="en-US" sz="1500"/>
          </a:p>
        </p:txBody>
      </p:sp>
      <p:sp>
        <p:nvSpPr>
          <p:cNvPr id="819803671" name="Text 3"/>
          <p:cNvSpPr txBox="1"/>
          <p:nvPr/>
        </p:nvSpPr>
        <p:spPr bwMode="auto">
          <a:xfrm>
            <a:off x="804672" y="2103120"/>
            <a:ext cx="300837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1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Distributed file system holding /data/raw CSVs and /data/processed Parquet</a:t>
            </a:r>
            <a:endParaRPr lang="en-US" sz="115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1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One NameNode for metadata, one DataNode for blocks, replication factor 1</a:t>
            </a:r>
            <a:endParaRPr lang="en-US" sz="115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1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Both run as containers backed by named volumes, so data survives restarts</a:t>
            </a:r>
            <a:endParaRPr lang="en-US" sz="1150"/>
          </a:p>
        </p:txBody>
      </p:sp>
      <p:sp>
        <p:nvSpPr>
          <p:cNvPr id="1966709489" name="Shape 4"/>
          <p:cNvSpPr/>
          <p:nvPr/>
        </p:nvSpPr>
        <p:spPr bwMode="auto">
          <a:xfrm>
            <a:off x="4343400" y="1417320"/>
            <a:ext cx="3520440" cy="4480560"/>
          </a:xfrm>
          <a:prstGeom prst="roundRect">
            <a:avLst>
              <a:gd name="adj" fmla="val 4675"/>
            </a:avLst>
          </a:prstGeom>
          <a:solidFill>
            <a:srgbClr val="E6E6E6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1788778980" name="Text 5"/>
          <p:cNvSpPr txBox="1"/>
          <p:nvPr/>
        </p:nvSpPr>
        <p:spPr bwMode="auto">
          <a:xfrm>
            <a:off x="4599432" y="16002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Apache Hive 3.1.3</a:t>
            </a:r>
            <a:endParaRPr lang="en-US" sz="1500"/>
          </a:p>
        </p:txBody>
      </p:sp>
      <p:sp>
        <p:nvSpPr>
          <p:cNvPr id="1537603557" name="Text 6"/>
          <p:cNvSpPr txBox="1"/>
          <p:nvPr/>
        </p:nvSpPr>
        <p:spPr bwMode="auto">
          <a:xfrm>
            <a:off x="4599432" y="2103120"/>
            <a:ext cx="300837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1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External tables over ratings and movies - the CSVs never leave HDFS</a:t>
            </a:r>
            <a:endParaRPr lang="en-US" sz="115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1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Three SQL reports: most-rated movies, avg rating by genre, rating distribution</a:t>
            </a:r>
            <a:endParaRPr lang="en-US" sz="115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1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Results export as CSV into ./report and feed the /reports page</a:t>
            </a:r>
            <a:endParaRPr lang="en-US" sz="1150"/>
          </a:p>
        </p:txBody>
      </p:sp>
      <p:sp>
        <p:nvSpPr>
          <p:cNvPr id="873338623" name="Shape 7"/>
          <p:cNvSpPr/>
          <p:nvPr/>
        </p:nvSpPr>
        <p:spPr bwMode="auto">
          <a:xfrm>
            <a:off x="8138160" y="1417320"/>
            <a:ext cx="3520440" cy="4480560"/>
          </a:xfrm>
          <a:prstGeom prst="roundRect">
            <a:avLst>
              <a:gd name="adj" fmla="val 4675"/>
            </a:avLst>
          </a:prstGeom>
          <a:solidFill>
            <a:srgbClr val="E6E6E6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591786363" name="Text 8"/>
          <p:cNvSpPr txBox="1"/>
          <p:nvPr/>
        </p:nvSpPr>
        <p:spPr bwMode="auto">
          <a:xfrm>
            <a:off x="8394192" y="16002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Spark 3.5.1 Standalone</a:t>
            </a:r>
            <a:endParaRPr lang="en-US" sz="1500"/>
          </a:p>
        </p:txBody>
      </p:sp>
      <p:sp>
        <p:nvSpPr>
          <p:cNvPr id="643513372" name="Text 9"/>
          <p:cNvSpPr txBox="1"/>
          <p:nvPr/>
        </p:nvSpPr>
        <p:spPr bwMode="auto">
          <a:xfrm>
            <a:off x="8394192" y="2103120"/>
            <a:ext cx="300837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1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Master schedules; the worker gives the job 2 cores and 3 GB of memory</a:t>
            </a:r>
            <a:endParaRPr lang="en-US" sz="115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1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Scala ALS job is compiled by sbt in a separate builder container</a:t>
            </a:r>
            <a:endParaRPr lang="en-US" sz="115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1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Training UI on :8080 shows the live and completed applications</a:t>
            </a:r>
            <a:endParaRPr lang="en-US" sz="1150"/>
          </a:p>
        </p:txBody>
      </p:sp>
      <p:sp>
        <p:nvSpPr>
          <p:cNvPr id="972147683" name="Shape 10"/>
          <p:cNvSpPr/>
          <p:nvPr/>
        </p:nvSpPr>
        <p:spPr bwMode="auto">
          <a:xfrm>
            <a:off x="0" y="6446520"/>
            <a:ext cx="12188952" cy="41148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669078967" name="Text 11"/>
          <p:cNvSpPr txBox="1"/>
          <p:nvPr/>
        </p:nvSpPr>
        <p:spPr bwMode="auto">
          <a:xfrm>
            <a:off x="11430000" y="6446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9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E6E6E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9504760" name="Text 0"/>
          <p:cNvSpPr txBox="1"/>
          <p:nvPr/>
        </p:nvSpPr>
        <p:spPr bwMode="auto"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Modules Used - Part Two</a:t>
            </a:r>
            <a:endParaRPr lang="en-US" sz="3000"/>
          </a:p>
        </p:txBody>
      </p:sp>
      <p:sp>
        <p:nvSpPr>
          <p:cNvPr id="1442948016" name="Shape 1"/>
          <p:cNvSpPr/>
          <p:nvPr/>
        </p:nvSpPr>
        <p:spPr bwMode="auto">
          <a:xfrm>
            <a:off x="548640" y="1417320"/>
            <a:ext cx="3520440" cy="4480560"/>
          </a:xfrm>
          <a:prstGeom prst="roundRect">
            <a:avLst>
              <a:gd name="adj" fmla="val 4675"/>
            </a:avLst>
          </a:prstGeom>
          <a:solidFill>
            <a:srgbClr val="E6E6E6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1727647335" name="Text 2"/>
          <p:cNvSpPr txBox="1"/>
          <p:nvPr/>
        </p:nvSpPr>
        <p:spPr bwMode="auto">
          <a:xfrm>
            <a:off x="804672" y="16002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Spark MLlib - ALS</a:t>
            </a:r>
            <a:endParaRPr lang="en-US" sz="1500"/>
          </a:p>
        </p:txBody>
      </p:sp>
      <p:sp>
        <p:nvSpPr>
          <p:cNvPr id="2051236750" name="Text 3"/>
          <p:cNvSpPr txBox="1"/>
          <p:nvPr/>
        </p:nvSpPr>
        <p:spPr bwMode="auto">
          <a:xfrm>
            <a:off x="804672" y="2103120"/>
            <a:ext cx="300837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1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Matrix factorisation that learns latent vectors for every user and movie</a:t>
            </a:r>
            <a:endParaRPr lang="en-US" sz="115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1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Config: rank 10, 10 iterations, regParam 0.1, 80/20 train-test split</a:t>
            </a:r>
            <a:endParaRPr lang="en-US" sz="115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1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Scores the full 9,742-movie catalogue, drops watched titles, keeps top-10</a:t>
            </a:r>
            <a:endParaRPr lang="en-US" sz="1150"/>
          </a:p>
        </p:txBody>
      </p:sp>
      <p:sp>
        <p:nvSpPr>
          <p:cNvPr id="1291457656" name="Shape 4"/>
          <p:cNvSpPr/>
          <p:nvPr/>
        </p:nvSpPr>
        <p:spPr bwMode="auto">
          <a:xfrm>
            <a:off x="4343400" y="1417320"/>
            <a:ext cx="3520440" cy="4480560"/>
          </a:xfrm>
          <a:prstGeom prst="roundRect">
            <a:avLst>
              <a:gd name="adj" fmla="val 4675"/>
            </a:avLst>
          </a:prstGeom>
          <a:solidFill>
            <a:srgbClr val="E6E6E6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185635258" name="Text 5"/>
          <p:cNvSpPr txBox="1"/>
          <p:nvPr/>
        </p:nvSpPr>
        <p:spPr bwMode="auto">
          <a:xfrm>
            <a:off x="4599432" y="16002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MongoDB 7</a:t>
            </a:r>
            <a:endParaRPr lang="en-US" sz="1500"/>
          </a:p>
        </p:txBody>
      </p:sp>
      <p:sp>
        <p:nvSpPr>
          <p:cNvPr id="403763984" name="Text 6"/>
          <p:cNvSpPr txBox="1"/>
          <p:nvPr/>
        </p:nvSpPr>
        <p:spPr bwMode="auto">
          <a:xfrm>
            <a:off x="4599432" y="2103120"/>
            <a:ext cx="300837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1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recommendations: one document per user with top-10, topGenres, highRated</a:t>
            </a:r>
            <a:endParaRPr lang="en-US" sz="115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1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user_ratings holds feedback; catalog keeps the 50 most-rated movies</a:t>
            </a:r>
            <a:endParaRPr lang="en-US" sz="115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1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stale flag marks users whose new ratings are not yet trained in</a:t>
            </a:r>
            <a:endParaRPr lang="en-US" sz="1150"/>
          </a:p>
        </p:txBody>
      </p:sp>
      <p:sp>
        <p:nvSpPr>
          <p:cNvPr id="1346618000" name="Shape 7"/>
          <p:cNvSpPr/>
          <p:nvPr/>
        </p:nvSpPr>
        <p:spPr bwMode="auto">
          <a:xfrm>
            <a:off x="8138160" y="1417320"/>
            <a:ext cx="3520440" cy="4480560"/>
          </a:xfrm>
          <a:prstGeom prst="roundRect">
            <a:avLst>
              <a:gd name="adj" fmla="val 4675"/>
            </a:avLst>
          </a:prstGeom>
          <a:solidFill>
            <a:srgbClr val="E6E6E6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390961892" name="Text 8"/>
          <p:cNvSpPr txBox="1"/>
          <p:nvPr/>
        </p:nvSpPr>
        <p:spPr bwMode="auto">
          <a:xfrm>
            <a:off x="8394192" y="16002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Flask + Feedback Loop</a:t>
            </a:r>
            <a:endParaRPr lang="en-US" sz="1500"/>
          </a:p>
        </p:txBody>
      </p:sp>
      <p:sp>
        <p:nvSpPr>
          <p:cNvPr id="1421733321" name="Text 9"/>
          <p:cNvSpPr txBox="1"/>
          <p:nvPr/>
        </p:nvSpPr>
        <p:spPr bwMode="auto">
          <a:xfrm>
            <a:off x="8394192" y="2103120"/>
            <a:ext cx="300837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1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Flask serves the top-10 table, rating-history proof and /reports from CSVs</a:t>
            </a:r>
            <a:endParaRPr lang="en-US" sz="115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1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Mark as watched upserts a rating and flags the user stale</a:t>
            </a:r>
            <a:endParaRPr lang="en-US" sz="115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1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web container calls the Docker socket to retrain when Spark is idle</a:t>
            </a:r>
            <a:endParaRPr lang="en-US" sz="1150"/>
          </a:p>
        </p:txBody>
      </p:sp>
      <p:sp>
        <p:nvSpPr>
          <p:cNvPr id="976336695" name="Shape 10"/>
          <p:cNvSpPr/>
          <p:nvPr/>
        </p:nvSpPr>
        <p:spPr bwMode="auto">
          <a:xfrm>
            <a:off x="0" y="6446520"/>
            <a:ext cx="12188952" cy="41148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1381523622" name="Text 11"/>
          <p:cNvSpPr txBox="1"/>
          <p:nvPr/>
        </p:nvSpPr>
        <p:spPr bwMode="auto">
          <a:xfrm>
            <a:off x="11430000" y="6446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10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E6E6E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3130993" name="Text 0"/>
          <p:cNvSpPr txBox="1"/>
          <p:nvPr/>
        </p:nvSpPr>
        <p:spPr bwMode="auto"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Results</a:t>
            </a:r>
            <a:endParaRPr lang="en-US" sz="3000"/>
          </a:p>
        </p:txBody>
      </p:sp>
      <p:sp>
        <p:nvSpPr>
          <p:cNvPr id="319492451" name="Shape 1"/>
          <p:cNvSpPr/>
          <p:nvPr/>
        </p:nvSpPr>
        <p:spPr bwMode="auto">
          <a:xfrm>
            <a:off x="548640" y="1737360"/>
            <a:ext cx="3429000" cy="21031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1426545467" name="Text 2"/>
          <p:cNvSpPr txBox="1"/>
          <p:nvPr/>
        </p:nvSpPr>
        <p:spPr bwMode="auto">
          <a:xfrm>
            <a:off x="749808" y="1920240"/>
            <a:ext cx="3026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250">
                <a:solidFill>
                  <a:srgbClr val="F2F2F2"/>
                </a:solidFill>
                <a:latin typeface="Consolas"/>
                <a:ea typeface="Consolas"/>
                <a:cs typeface="Consolas"/>
              </a:rPr>
              <a:t>RMSE         : 0.88</a:t>
            </a:r>
            <a:endParaRPr lang="en-US" sz="1250"/>
          </a:p>
          <a:p>
            <a:pPr marL="0" indent="0">
              <a:lnSpc>
                <a:spcPct val="125000"/>
              </a:lnSpc>
              <a:buNone/>
              <a:defRPr/>
            </a:pPr>
            <a:r>
              <a:rPr lang="en-US" sz="1250">
                <a:solidFill>
                  <a:srgbClr val="F2F2F2"/>
                </a:solidFill>
                <a:latin typeface="Consolas"/>
                <a:ea typeface="Consolas"/>
                <a:cs typeface="Consolas"/>
              </a:rPr>
              <a:t>Rank         : 10</a:t>
            </a:r>
            <a:endParaRPr lang="en-US" sz="1250"/>
          </a:p>
          <a:p>
            <a:pPr marL="0" indent="0">
              <a:lnSpc>
                <a:spcPct val="125000"/>
              </a:lnSpc>
              <a:buNone/>
              <a:defRPr/>
            </a:pPr>
            <a:r>
              <a:rPr lang="en-US" sz="1250">
                <a:solidFill>
                  <a:srgbClr val="F2F2F2"/>
                </a:solidFill>
                <a:latin typeface="Consolas"/>
                <a:ea typeface="Consolas"/>
                <a:cs typeface="Consolas"/>
              </a:rPr>
              <a:t>Iterations   : 10</a:t>
            </a:r>
            <a:endParaRPr lang="en-US" sz="1250"/>
          </a:p>
          <a:p>
            <a:pPr marL="0" indent="0">
              <a:lnSpc>
                <a:spcPct val="125000"/>
              </a:lnSpc>
              <a:buNone/>
              <a:defRPr/>
            </a:pPr>
            <a:r>
              <a:rPr lang="en-US" sz="1250">
                <a:solidFill>
                  <a:srgbClr val="F2F2F2"/>
                </a:solidFill>
                <a:latin typeface="Consolas"/>
                <a:ea typeface="Consolas"/>
                <a:cs typeface="Consolas"/>
              </a:rPr>
              <a:t>Reg param    : 0.1</a:t>
            </a:r>
            <a:endParaRPr lang="en-US" sz="1250"/>
          </a:p>
        </p:txBody>
      </p:sp>
      <p:sp>
        <p:nvSpPr>
          <p:cNvPr id="1152583999" name="Text 3"/>
          <p:cNvSpPr txBox="1"/>
          <p:nvPr/>
        </p:nvSpPr>
        <p:spPr bwMode="auto">
          <a:xfrm>
            <a:off x="548640" y="39502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ALS Recommender Model</a:t>
            </a:r>
            <a:endParaRPr lang="en-US" sz="1500"/>
          </a:p>
        </p:txBody>
      </p:sp>
      <p:sp>
        <p:nvSpPr>
          <p:cNvPr id="1821677389" name="Shape 4"/>
          <p:cNvSpPr/>
          <p:nvPr/>
        </p:nvSpPr>
        <p:spPr bwMode="auto">
          <a:xfrm>
            <a:off x="4251960" y="1737360"/>
            <a:ext cx="3429000" cy="21031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1919554723" name="Text 5"/>
          <p:cNvSpPr txBox="1"/>
          <p:nvPr/>
        </p:nvSpPr>
        <p:spPr bwMode="auto">
          <a:xfrm>
            <a:off x="4453128" y="1920240"/>
            <a:ext cx="3026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250">
                <a:solidFill>
                  <a:srgbClr val="F2F2F2"/>
                </a:solidFill>
                <a:latin typeface="Consolas"/>
                <a:ea typeface="Consolas"/>
                <a:cs typeface="Consolas"/>
              </a:rPr>
              <a:t>1st  : Forrest Gump (329)</a:t>
            </a:r>
            <a:endParaRPr lang="en-US" sz="1250"/>
          </a:p>
          <a:p>
            <a:pPr marL="0" indent="0">
              <a:lnSpc>
                <a:spcPct val="125000"/>
              </a:lnSpc>
              <a:buNone/>
              <a:defRPr/>
            </a:pPr>
            <a:r>
              <a:rPr lang="en-US" sz="1250">
                <a:solidFill>
                  <a:srgbClr val="F2F2F2"/>
                </a:solidFill>
                <a:latin typeface="Consolas"/>
                <a:ea typeface="Consolas"/>
                <a:cs typeface="Consolas"/>
              </a:rPr>
              <a:t>2nd  : Shawshank (317)</a:t>
            </a:r>
            <a:endParaRPr lang="en-US" sz="1250"/>
          </a:p>
          <a:p>
            <a:pPr marL="0" indent="0">
              <a:lnSpc>
                <a:spcPct val="125000"/>
              </a:lnSpc>
              <a:buNone/>
              <a:defRPr/>
            </a:pPr>
            <a:r>
              <a:rPr lang="en-US" sz="1250">
                <a:solidFill>
                  <a:srgbClr val="F2F2F2"/>
                </a:solidFill>
                <a:latin typeface="Consolas"/>
                <a:ea typeface="Consolas"/>
                <a:cs typeface="Consolas"/>
              </a:rPr>
              <a:t>3rd  : Pulp Fiction (307)</a:t>
            </a:r>
            <a:endParaRPr lang="en-US" sz="1250"/>
          </a:p>
          <a:p>
            <a:pPr marL="0" indent="0">
              <a:lnSpc>
                <a:spcPct val="125000"/>
              </a:lnSpc>
              <a:buNone/>
              <a:defRPr/>
            </a:pPr>
            <a:r>
              <a:rPr lang="en-US" sz="1250">
                <a:solidFill>
                  <a:srgbClr val="F2F2F2"/>
                </a:solidFill>
                <a:latin typeface="Consolas"/>
                <a:ea typeface="Consolas"/>
                <a:cs typeface="Consolas"/>
              </a:rPr>
              <a:t>Genre: Film-Noir, 3.92</a:t>
            </a:r>
            <a:endParaRPr lang="en-US" sz="1250"/>
          </a:p>
        </p:txBody>
      </p:sp>
      <p:sp>
        <p:nvSpPr>
          <p:cNvPr id="2013853737" name="Text 6"/>
          <p:cNvSpPr txBox="1"/>
          <p:nvPr/>
        </p:nvSpPr>
        <p:spPr bwMode="auto">
          <a:xfrm>
            <a:off x="4251960" y="39502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Hive SQL Reports (top rows)</a:t>
            </a:r>
            <a:endParaRPr lang="en-US" sz="1500"/>
          </a:p>
        </p:txBody>
      </p:sp>
      <p:sp>
        <p:nvSpPr>
          <p:cNvPr id="1500956139" name="Shape 7"/>
          <p:cNvSpPr/>
          <p:nvPr/>
        </p:nvSpPr>
        <p:spPr bwMode="auto">
          <a:xfrm>
            <a:off x="7955280" y="1737360"/>
            <a:ext cx="3429000" cy="210312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31395340" name="Text 8"/>
          <p:cNvSpPr txBox="1"/>
          <p:nvPr/>
        </p:nvSpPr>
        <p:spPr bwMode="auto">
          <a:xfrm>
            <a:off x="8156448" y="1920240"/>
            <a:ext cx="3026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250">
                <a:solidFill>
                  <a:srgbClr val="F2F2F2"/>
                </a:solidFill>
                <a:latin typeface="Consolas"/>
                <a:ea typeface="Consolas"/>
                <a:cs typeface="Consolas"/>
              </a:rPr>
              <a:t>Ratings      : 100,836</a:t>
            </a:r>
            <a:endParaRPr lang="en-US" sz="1250"/>
          </a:p>
          <a:p>
            <a:pPr marL="0" indent="0">
              <a:lnSpc>
                <a:spcPct val="125000"/>
              </a:lnSpc>
              <a:buNone/>
              <a:defRPr/>
            </a:pPr>
            <a:r>
              <a:rPr lang="en-US" sz="1250">
                <a:solidFill>
                  <a:srgbClr val="F2F2F2"/>
                </a:solidFill>
                <a:latin typeface="Consolas"/>
                <a:ea typeface="Consolas"/>
                <a:cs typeface="Consolas"/>
              </a:rPr>
              <a:t>Movies       : 9,742</a:t>
            </a:r>
            <a:endParaRPr lang="en-US" sz="1250"/>
          </a:p>
          <a:p>
            <a:pPr marL="0" indent="0">
              <a:lnSpc>
                <a:spcPct val="125000"/>
              </a:lnSpc>
              <a:buNone/>
              <a:defRPr/>
            </a:pPr>
            <a:r>
              <a:rPr lang="en-US" sz="1250">
                <a:solidFill>
                  <a:srgbClr val="F2F2F2"/>
                </a:solidFill>
                <a:latin typeface="Consolas"/>
                <a:ea typeface="Consolas"/>
                <a:cs typeface="Consolas"/>
              </a:rPr>
              <a:t>Users        : 610</a:t>
            </a:r>
            <a:endParaRPr lang="en-US" sz="1250"/>
          </a:p>
          <a:p>
            <a:pPr marL="0" indent="0">
              <a:lnSpc>
                <a:spcPct val="125000"/>
              </a:lnSpc>
              <a:buNone/>
              <a:defRPr/>
            </a:pPr>
            <a:r>
              <a:rPr lang="en-US" sz="1250">
                <a:solidFill>
                  <a:srgbClr val="F2F2F2"/>
                </a:solidFill>
                <a:latin typeface="Consolas"/>
                <a:ea typeface="Consolas"/>
                <a:cs typeface="Consolas"/>
              </a:rPr>
              <a:t>Recs / user  : top 10</a:t>
            </a:r>
            <a:endParaRPr lang="en-US" sz="1250"/>
          </a:p>
        </p:txBody>
      </p:sp>
      <p:sp>
        <p:nvSpPr>
          <p:cNvPr id="482324985" name="Text 9"/>
          <p:cNvSpPr txBox="1"/>
          <p:nvPr/>
        </p:nvSpPr>
        <p:spPr bwMode="auto">
          <a:xfrm>
            <a:off x="7955280" y="39502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MovieLens Dataset Scale</a:t>
            </a:r>
            <a:endParaRPr lang="en-US" sz="1500"/>
          </a:p>
        </p:txBody>
      </p:sp>
      <p:sp>
        <p:nvSpPr>
          <p:cNvPr id="1550362103" name="Shape 10"/>
          <p:cNvSpPr/>
          <p:nvPr/>
        </p:nvSpPr>
        <p:spPr bwMode="auto">
          <a:xfrm>
            <a:off x="0" y="6446520"/>
            <a:ext cx="12188952" cy="41148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1883613366" name="Text 11"/>
          <p:cNvSpPr txBox="1"/>
          <p:nvPr/>
        </p:nvSpPr>
        <p:spPr bwMode="auto">
          <a:xfrm>
            <a:off x="11430000" y="6446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11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E6E6E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5112754" name="Text 0"/>
          <p:cNvSpPr txBox="1"/>
          <p:nvPr/>
        </p:nvSpPr>
        <p:spPr bwMode="auto"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Graphical Representation</a:t>
            </a:r>
            <a:endParaRPr lang="en-US" sz="3000"/>
          </a:p>
        </p:txBody>
      </p:sp>
      <p:sp>
        <p:nvSpPr>
          <p:cNvPr id="1087865955" name="Text 1"/>
          <p:cNvSpPr txBox="1"/>
          <p:nvPr/>
        </p:nvSpPr>
        <p:spPr bwMode="auto">
          <a:xfrm>
            <a:off x="7498080" y="2743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240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Rating Distribution &amp;</a:t>
            </a:r>
            <a:endParaRPr lang="en-US" sz="2400"/>
          </a:p>
          <a:p>
            <a:pPr marL="0" indent="0">
              <a:lnSpc>
                <a:spcPct val="114999"/>
              </a:lnSpc>
              <a:buNone/>
              <a:defRPr/>
            </a:pPr>
            <a:r>
              <a:rPr lang="en-US" sz="240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Average Rating by Genre</a:t>
            </a:r>
            <a:endParaRPr lang="en-US" sz="2400"/>
          </a:p>
        </p:txBody>
      </p:sp>
      <p:sp>
        <p:nvSpPr>
          <p:cNvPr id="1947078999" name="Shape 2"/>
          <p:cNvSpPr/>
          <p:nvPr/>
        </p:nvSpPr>
        <p:spPr bwMode="auto">
          <a:xfrm>
            <a:off x="0" y="6446520"/>
            <a:ext cx="12188952" cy="41148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353004464" name="Text 3"/>
          <p:cNvSpPr txBox="1"/>
          <p:nvPr/>
        </p:nvSpPr>
        <p:spPr bwMode="auto">
          <a:xfrm>
            <a:off x="11430000" y="6446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12</a:t>
            </a:r>
            <a:endParaRPr lang="en-US" sz="1200"/>
          </a:p>
        </p:txBody>
      </p:sp>
      <p:graphicFrame>
        <p:nvGraphicFramePr>
          <p:cNvPr id="2128734424" name="Chart 7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1417320"/>
          <a:ext cx="66751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75569687" name="Chart 8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3931920"/>
          <a:ext cx="66751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E6E6E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016837" name="Text 0"/>
          <p:cNvSpPr txBox="1"/>
          <p:nvPr/>
        </p:nvSpPr>
        <p:spPr bwMode="auto"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Challenges Encountered</a:t>
            </a:r>
            <a:endParaRPr lang="en-US" sz="3000"/>
          </a:p>
        </p:txBody>
      </p:sp>
      <p:sp>
        <p:nvSpPr>
          <p:cNvPr id="113350067" name="Text 1"/>
          <p:cNvSpPr txBox="1"/>
          <p:nvPr/>
        </p:nvSpPr>
        <p:spPr bwMode="auto">
          <a:xfrm>
            <a:off x="548640" y="1645920"/>
            <a:ext cx="10881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Hive 3.1.3 needs hive.execution.engine=mr on the official image and ~1.5 GB heap, or ORDER BY dies of OOM.</a:t>
            </a:r>
            <a:endParaRPr lang="en-US" sz="160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Hive CLI splits .hql scripts badly on quotes and semicolons, so report queries avoid both.</a:t>
            </a:r>
            <a:endParaRPr lang="en-US" sz="160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spark-submit --packages re-resolves a version-range connector; vendored --jars removed the network flake.</a:t>
            </a:r>
            <a:endParaRPr lang="en-US" sz="160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Calling the Docker API from Flask needed the socket mount, container name filters, and exec Cmd as an array.</a:t>
            </a:r>
            <a:endParaRPr lang="en-US" sz="160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Cutting watched movies from a small top-k buffer silently dropped heavy raters; scoring the full catalogue fixed it.</a:t>
            </a:r>
            <a:endParaRPr lang="en-US" sz="1600"/>
          </a:p>
        </p:txBody>
      </p:sp>
      <p:sp>
        <p:nvSpPr>
          <p:cNvPr id="261850741" name="Shape 2"/>
          <p:cNvSpPr/>
          <p:nvPr/>
        </p:nvSpPr>
        <p:spPr bwMode="auto">
          <a:xfrm>
            <a:off x="0" y="6446520"/>
            <a:ext cx="12188952" cy="41148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889846928" name="Text 3"/>
          <p:cNvSpPr txBox="1"/>
          <p:nvPr/>
        </p:nvSpPr>
        <p:spPr bwMode="auto">
          <a:xfrm>
            <a:off x="11430000" y="6446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13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E6E6E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9112715" name="Text 0"/>
          <p:cNvSpPr txBox="1"/>
          <p:nvPr/>
        </p:nvSpPr>
        <p:spPr bwMode="auto"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Limitations</a:t>
            </a:r>
            <a:endParaRPr lang="en-US" sz="3000"/>
          </a:p>
        </p:txBody>
      </p:sp>
      <p:sp>
        <p:nvSpPr>
          <p:cNvPr id="1097407547" name="Text 1"/>
          <p:cNvSpPr txBox="1"/>
          <p:nvPr/>
        </p:nvSpPr>
        <p:spPr bwMode="auto">
          <a:xfrm>
            <a:off x="548640" y="1645920"/>
            <a:ext cx="10881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Single node: HDFS replication is 1 and one Spark worker, so fault tolerance is never exercised.</a:t>
            </a:r>
            <a:endParaRPr lang="en-US" sz="160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Batch retraining: ALS retrains globally in ~2 minutes; there is no per-user incremental update.</a:t>
            </a:r>
            <a:endParaRPr lang="en-US" sz="160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Cold start: a new user with one rating gets near-generic recommendations until more are marked.</a:t>
            </a:r>
            <a:endParaRPr lang="en-US" sz="160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Unclamped scores: ALS dot products can exceed 5.0 stars for users with very few ratings.</a:t>
            </a:r>
            <a:endParaRPr lang="en-US" sz="160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 streaming: feedback is polled from MongoDB and retrained in batch, not via Spark Streaming.</a:t>
            </a:r>
            <a:endParaRPr lang="en-US" sz="1600"/>
          </a:p>
        </p:txBody>
      </p:sp>
      <p:sp>
        <p:nvSpPr>
          <p:cNvPr id="885522359" name="Shape 2"/>
          <p:cNvSpPr/>
          <p:nvPr/>
        </p:nvSpPr>
        <p:spPr bwMode="auto">
          <a:xfrm>
            <a:off x="0" y="6446520"/>
            <a:ext cx="12188952" cy="41148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47318575" name="Text 3"/>
          <p:cNvSpPr txBox="1"/>
          <p:nvPr/>
        </p:nvSpPr>
        <p:spPr bwMode="auto">
          <a:xfrm>
            <a:off x="11430000" y="6446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14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bg>
      <p:bgPr shadeToTitle="0">
        <a:solidFill>
          <a:srgbClr val="E6E6E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7653791" name="Text 0"/>
          <p:cNvSpPr txBox="1"/>
          <p:nvPr/>
        </p:nvSpPr>
        <p:spPr bwMode="auto"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Conclusion</a:t>
            </a:r>
            <a:endParaRPr lang="en-US" sz="3000"/>
          </a:p>
        </p:txBody>
      </p:sp>
      <p:sp>
        <p:nvSpPr>
          <p:cNvPr id="1789693080" name="Text 1"/>
          <p:cNvSpPr txBox="1"/>
          <p:nvPr/>
        </p:nvSpPr>
        <p:spPr bwMode="auto">
          <a:xfrm>
            <a:off x="548640" y="118872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  <a:defRPr/>
            </a:pPr>
            <a:r>
              <a:rPr lang="en-US" sz="14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Built a complete Big Data pipeline - HDFS, Spark MLlib, Hive, MongoDB and Flask - on Docker Compose.</a:t>
            </a:r>
            <a:endParaRPr lang="en-US" sz="145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  <a:defRPr/>
            </a:pPr>
            <a:r>
              <a:rPr lang="en-US" sz="14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Trained an ALS recommender to RMSE ≈ 0.88 and served personalised top-10 lists to 610 users.</a:t>
            </a:r>
            <a:endParaRPr lang="en-US" sz="145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  <a:defRPr/>
            </a:pPr>
            <a:r>
              <a:rPr lang="en-US" sz="14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Closed the feedback loop: UI ratings flow back into retraining, echoing Lambda batch + serving design.</a:t>
            </a:r>
            <a:endParaRPr lang="en-US" sz="1450"/>
          </a:p>
        </p:txBody>
      </p:sp>
      <p:sp>
        <p:nvSpPr>
          <p:cNvPr id="843935875" name="Text 2"/>
          <p:cNvSpPr txBox="1"/>
          <p:nvPr/>
        </p:nvSpPr>
        <p:spPr bwMode="auto">
          <a:xfrm>
            <a:off x="548640" y="2834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References</a:t>
            </a:r>
            <a:endParaRPr lang="en-US" sz="3000"/>
          </a:p>
        </p:txBody>
      </p:sp>
      <p:sp>
        <p:nvSpPr>
          <p:cNvPr id="624600496" name="Text 3"/>
          <p:cNvSpPr txBox="1"/>
          <p:nvPr/>
        </p:nvSpPr>
        <p:spPr bwMode="auto">
          <a:xfrm>
            <a:off x="548640" y="3611880"/>
            <a:ext cx="10881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Apache Hadoop Documentation - hadoop.apache.org</a:t>
            </a:r>
            <a:endParaRPr lang="en-US" sz="140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MongoDB Documentation - mongodb.com/docs</a:t>
            </a:r>
            <a:endParaRPr lang="en-US" sz="140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Apache Hive Documentation - hive.apache.org</a:t>
            </a:r>
            <a:endParaRPr lang="en-US" sz="140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Flask Documentation - flask.palletsprojects.com</a:t>
            </a:r>
            <a:endParaRPr lang="en-US" sz="140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MovieLens Dataset - grouplens.org/datasets/movielens</a:t>
            </a:r>
            <a:endParaRPr lang="en-US" sz="140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Docker Compose Documentation - docs.docker.com/compose</a:t>
            </a:r>
            <a:endParaRPr lang="en-US" sz="140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●"/>
              <a:defRPr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Apache Spark Documentation - spark.apache.org</a:t>
            </a:r>
            <a:endParaRPr lang="en-US" sz="1400"/>
          </a:p>
        </p:txBody>
      </p:sp>
      <p:sp>
        <p:nvSpPr>
          <p:cNvPr id="183077070" name="Shape 4"/>
          <p:cNvSpPr/>
          <p:nvPr/>
        </p:nvSpPr>
        <p:spPr bwMode="auto">
          <a:xfrm>
            <a:off x="0" y="6446520"/>
            <a:ext cx="12188952" cy="411480"/>
          </a:xfrm>
          <a:prstGeom prst="rect">
            <a:avLst/>
          </a:prstGeom>
          <a:solidFill>
            <a:srgbClr val="BFBFBF"/>
          </a:solidFill>
          <a:ln/>
        </p:spPr>
        <p:txBody>
          <a:bodyPr/>
          <a:p>
            <a:pPr>
              <a:defRPr/>
            </a:pPr>
            <a:endParaRPr/>
          </a:p>
        </p:txBody>
      </p:sp>
      <p:sp>
        <p:nvSpPr>
          <p:cNvPr id="2137396241" name="Text 5"/>
          <p:cNvSpPr txBox="1"/>
          <p:nvPr/>
        </p:nvSpPr>
        <p:spPr bwMode="auto">
          <a:xfrm>
            <a:off x="11430000" y="6446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15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04040"/>
      </a:dk2>
      <a:lt2>
        <a:srgbClr val="E7E6E6"/>
      </a:lt2>
      <a:accent1>
        <a:srgbClr val="595959"/>
      </a:accent1>
      <a:accent2>
        <a:srgbClr val="808080"/>
      </a:accent2>
      <a:accent3>
        <a:srgbClr val="A5A5A5"/>
      </a:accent3>
      <a:accent4>
        <a:srgbClr val="BFBFBF"/>
      </a:accent4>
      <a:accent5>
        <a:srgbClr val="D9D9D9"/>
      </a:accent5>
      <a:accent6>
        <a:srgbClr val="404040"/>
      </a:accent6>
      <a:hlink>
        <a:srgbClr val="000000"/>
      </a:hlink>
      <a:folHlink>
        <a:srgbClr val="595959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04040"/>
      </a:dk2>
      <a:lt2>
        <a:srgbClr val="E7E6E6"/>
      </a:lt2>
      <a:accent1>
        <a:srgbClr val="595959"/>
      </a:accent1>
      <a:accent2>
        <a:srgbClr val="808080"/>
      </a:accent2>
      <a:accent3>
        <a:srgbClr val="A5A5A5"/>
      </a:accent3>
      <a:accent4>
        <a:srgbClr val="BFBFBF"/>
      </a:accent4>
      <a:accent5>
        <a:srgbClr val="D9D9D9"/>
      </a:accent5>
      <a:accent6>
        <a:srgbClr val="404040"/>
      </a:accent6>
      <a:hlink>
        <a:srgbClr val="000000"/>
      </a:hlink>
      <a:folHlink>
        <a:srgbClr val="595959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/>
  <cp:revision>3</cp:revision>
  <dcterms:created xsi:type="dcterms:W3CDTF">2026-10-03T06:01:59Z</dcterms:created>
  <dcterms:modified xsi:type="dcterms:W3CDTF">2026-10-13T14:14:12Z</dcterms:modified>
</cp:coreProperties>
</file>