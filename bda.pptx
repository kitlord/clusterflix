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E564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3E5645"/>
                </a:solidFill>
                <a:latin typeface="Arial"/>
              </a:rPr>
              <a:t>Monthly Avg Temperature — Delhi 2013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Temp (°C)</c:v>
                </c:pt>
              </c:strCache>
            </c:strRef>
          </c:tx>
          <c:spPr>
            <a:ln w="31750" cap="flat">
              <a:solidFill>
                <a:srgbClr val="3E5645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3E5645"/>
              </a:solidFill>
              <a:ln w="9525" cap="flat">
                <a:solidFill>
                  <a:srgbClr val="3E5645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12.07</c:v>
                </c:pt>
                <c:pt idx="1">
                  <c:v>16.87</c:v>
                </c:pt>
                <c:pt idx="2">
                  <c:v>22.81</c:v>
                </c:pt>
                <c:pt idx="3">
                  <c:v>28.9</c:v>
                </c:pt>
                <c:pt idx="4">
                  <c:v>33.78</c:v>
                </c:pt>
                <c:pt idx="5">
                  <c:v>32.479999999999997</c:v>
                </c:pt>
                <c:pt idx="6">
                  <c:v>30.66</c:v>
                </c:pt>
                <c:pt idx="7">
                  <c:v>29.55</c:v>
                </c:pt>
                <c:pt idx="8">
                  <c:v>29.84</c:v>
                </c:pt>
                <c:pt idx="9">
                  <c:v>26.13</c:v>
                </c:pt>
                <c:pt idx="10">
                  <c:v>18.809999999999999</c:v>
                </c:pt>
                <c:pt idx="11">
                  <c:v>15.18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C2F-4E1D-9FFC-41E6BBAB79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045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8D5C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0453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E564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3E5645"/>
                </a:solidFill>
                <a:latin typeface="Arial"/>
              </a:rPr>
              <a:t>Actual vs Predicted Temperature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 (°C)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9CAC80"/>
              </a:solidFill>
              <a:ln w="9525" cap="flat">
                <a:solidFill>
                  <a:srgbClr val="9CAC80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10</c:v>
                </c:pt>
                <c:pt idx="1">
                  <c:v>14</c:v>
                </c:pt>
                <c:pt idx="2">
                  <c:v>11</c:v>
                </c:pt>
                <c:pt idx="3">
                  <c:v>17.11</c:v>
                </c:pt>
                <c:pt idx="4">
                  <c:v>14.13</c:v>
                </c:pt>
                <c:pt idx="5">
                  <c:v>6</c:v>
                </c:pt>
                <c:pt idx="6">
                  <c:v>7</c:v>
                </c:pt>
                <c:pt idx="7">
                  <c:v>14.71</c:v>
                </c:pt>
                <c:pt idx="8">
                  <c:v>12.83</c:v>
                </c:pt>
                <c:pt idx="9">
                  <c:v>11</c:v>
                </c:pt>
                <c:pt idx="10">
                  <c:v>12.11</c:v>
                </c:pt>
                <c:pt idx="11">
                  <c:v>15.63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15.63</c:v>
                </c:pt>
                <c:pt idx="1">
                  <c:v>18.079999999999998</c:v>
                </c:pt>
                <c:pt idx="2">
                  <c:v>18.54</c:v>
                </c:pt>
                <c:pt idx="3">
                  <c:v>16.995000000000001</c:v>
                </c:pt>
                <c:pt idx="4">
                  <c:v>18.739999999999998</c:v>
                </c:pt>
                <c:pt idx="5">
                  <c:v>15.79</c:v>
                </c:pt>
                <c:pt idx="6">
                  <c:v>16.37</c:v>
                </c:pt>
                <c:pt idx="7">
                  <c:v>14.79</c:v>
                </c:pt>
                <c:pt idx="8">
                  <c:v>16.329999999999998</c:v>
                </c:pt>
                <c:pt idx="9">
                  <c:v>22.47</c:v>
                </c:pt>
                <c:pt idx="10">
                  <c:v>20.43</c:v>
                </c:pt>
                <c:pt idx="11">
                  <c:v>18.68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801-4AFB-B338-12B8CF8E71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8D5C6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045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8D5C6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0453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5383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3E0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8288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3E5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DATA ANALYTICS CASE STUDY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14600"/>
            <a:ext cx="107259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200" dirty="0">
                <a:solidFill>
                  <a:srgbClr val="3E5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DATA ANALYTICS</a:t>
            </a:r>
            <a:endParaRPr lang="en-US" sz="4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4200" dirty="0">
                <a:solidFill>
                  <a:srgbClr val="3E5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BIG DATA TECHNOLOGIES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9CAC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0" y="6108192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E5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Kiran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0" y="640080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E5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Multi-State Weather Analytics &amp; Prediction System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3E0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3E5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conditions influence agriculture, transportation, disaster management, and everyday life.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weather systems are often limited to a single location and rely only on historical batch data.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tools can store, process, and analyze large-scale weather data efficiently across many regions.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enables automatic prediction of temperature and detection of abnormal weather patterns.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complete Big Data pipeline for multi-state weather analytics, combining historical analysis with live prediction.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120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E5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 →  HDFS  →  Pig  →  Hive  →  Spark MLlib  →  Cassandra  →  Dashboard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9CAC8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0" y="6446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E5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3E0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3E5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weather systems are usually limited to one city and offer no live or predictive capability.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batch-only analysis cannot keep up with rapidly changing weather conditions.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simple way to compare storage, processing, and prediction across multiple Indian states.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3E5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0332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ingest and store historical and live weather data using HDFS.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clean and query multi-state weather data using Apache Pig and Hive.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train Spark MLlib models for temperature prediction and anomaly detection.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serve live predictions with low latency using Apache Cassandra.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visualize trends, live conditions, and alerts through an interactive dashboard.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9CAC8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0" y="6446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E5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3E0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3E5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4480560"/>
          </a:xfrm>
          <a:prstGeom prst="roundRect">
            <a:avLst>
              <a:gd name="adj" fmla="val 4675"/>
            </a:avLst>
          </a:prstGeom>
          <a:solidFill>
            <a:srgbClr val="9CAC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04672" y="16002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looked for in prior work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2103120"/>
            <a:ext cx="300837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 approaches for large-scale weather data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Regression-based temperature forecasting techniques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methods for anomaly detection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vs batch system architectures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and serving-layer limitations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43400" y="1417320"/>
            <a:ext cx="3520440" cy="4480560"/>
          </a:xfrm>
          <a:prstGeom prst="roundRect">
            <a:avLst>
              <a:gd name="adj" fmla="val 4675"/>
            </a:avLst>
          </a:prstGeom>
          <a:solidFill>
            <a:srgbClr val="9CAC8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99432" y="16002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that shaped our project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99432" y="2103120"/>
            <a:ext cx="300837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+ Pig + Hive for scalable, distributed storage and querying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MLlib Linear Regression — an interpretable temperature predictor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MLlib K-Means — an unsupervised anomaly flag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Cassandra as a low-latency serving layer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for rapid, interactive visualization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138160" y="1417320"/>
            <a:ext cx="3520440" cy="4480560"/>
          </a:xfrm>
          <a:prstGeom prst="roundRect">
            <a:avLst>
              <a:gd name="adj" fmla="val 4675"/>
            </a:avLst>
          </a:prstGeom>
          <a:solidFill>
            <a:srgbClr val="9CAC8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94192" y="16002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addressed by the prototype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394192" y="2103120"/>
            <a:ext cx="300837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are single-city and purely historical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Batch-only systems cannot support live dashboards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is rarely built into weather pipelines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projects integrate the full Big Data stack genuinely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prototype combines batch and live layers in one system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9CAC8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0" y="6446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E5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3E0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3E5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7315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Multi-state historical daily weather data (temperature, humidity, wind speed, pressure)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covered: 15 major Indian states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1,576+ daily records for Delhi alone (2013-2017), expanding across states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data: current conditions fetched every 5 minutes via a weather API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10515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E5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1435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17099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E5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Storage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20939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412480" y="236829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E5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 Cleaning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412480" y="27523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30266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E5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Tables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3410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36850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E5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MLlib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4343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E5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4727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50017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E5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6118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3E5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343400"/>
            <a:ext cx="10881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Cleaning: Apache Pig filters missing values and invalid readings (e.g. humidity outside 0-100%).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Definition: Apache Hive exposes cleaned data as SQL-style tables, partitioned by state.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day-of-year, humidity, wind speed, and pressure are used as model inputs.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Standardization: features are scaled before clustering so no single variable dominates distance.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9CAC8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1430000" y="6446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E5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3E0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3E5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82396" y="1828800"/>
            <a:ext cx="1828800" cy="914400"/>
          </a:xfrm>
          <a:prstGeom prst="roundRect">
            <a:avLst>
              <a:gd name="adj" fmla="val 50000"/>
            </a:avLst>
          </a:prstGeom>
          <a:solidFill>
            <a:srgbClr val="F3F1E7"/>
          </a:solidFill>
          <a:ln w="15875">
            <a:solidFill>
              <a:srgbClr val="5C7A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82396" y="1828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+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11196" y="2286000"/>
            <a:ext cx="320040" cy="0"/>
          </a:xfrm>
          <a:prstGeom prst="line">
            <a:avLst/>
          </a:prstGeom>
          <a:noFill/>
          <a:ln w="19050">
            <a:solidFill>
              <a:srgbClr val="5C7A63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031236" y="1828800"/>
            <a:ext cx="1828800" cy="914400"/>
          </a:xfrm>
          <a:prstGeom prst="roundRect">
            <a:avLst>
              <a:gd name="adj" fmla="val 50000"/>
            </a:avLst>
          </a:prstGeom>
          <a:solidFill>
            <a:srgbClr val="F3F1E7"/>
          </a:solidFill>
          <a:ln w="15875">
            <a:solidFill>
              <a:srgbClr val="5C7A6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31236" y="1828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60036" y="2286000"/>
            <a:ext cx="320040" cy="0"/>
          </a:xfrm>
          <a:prstGeom prst="line">
            <a:avLst/>
          </a:prstGeom>
          <a:noFill/>
          <a:ln w="19050">
            <a:solidFill>
              <a:srgbClr val="5C7A6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180076" y="1828800"/>
            <a:ext cx="1828800" cy="914400"/>
          </a:xfrm>
          <a:prstGeom prst="roundRect">
            <a:avLst>
              <a:gd name="adj" fmla="val 50000"/>
            </a:avLst>
          </a:prstGeom>
          <a:solidFill>
            <a:srgbClr val="F3F1E7"/>
          </a:solidFill>
          <a:ln w="15875">
            <a:solidFill>
              <a:srgbClr val="5C7A6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80076" y="1828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08876" y="2286000"/>
            <a:ext cx="320040" cy="0"/>
          </a:xfrm>
          <a:prstGeom prst="line">
            <a:avLst/>
          </a:prstGeom>
          <a:noFill/>
          <a:ln w="19050">
            <a:solidFill>
              <a:srgbClr val="5C7A6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28916" y="1828800"/>
            <a:ext cx="1828800" cy="914400"/>
          </a:xfrm>
          <a:prstGeom prst="roundRect">
            <a:avLst>
              <a:gd name="adj" fmla="val 50000"/>
            </a:avLst>
          </a:prstGeom>
          <a:solidFill>
            <a:srgbClr val="F3F1E7"/>
          </a:solidFill>
          <a:ln w="15875">
            <a:solidFill>
              <a:srgbClr val="5C7A6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28916" y="1828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57716" y="2286000"/>
            <a:ext cx="320040" cy="0"/>
          </a:xfrm>
          <a:prstGeom prst="line">
            <a:avLst/>
          </a:prstGeom>
          <a:noFill/>
          <a:ln w="19050">
            <a:solidFill>
              <a:srgbClr val="5C7A6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477756" y="1828800"/>
            <a:ext cx="1828800" cy="914400"/>
          </a:xfrm>
          <a:prstGeom prst="roundRect">
            <a:avLst>
              <a:gd name="adj" fmla="val 50000"/>
            </a:avLst>
          </a:prstGeom>
          <a:solidFill>
            <a:srgbClr val="F3F1E7"/>
          </a:solidFill>
          <a:ln w="15875">
            <a:solidFill>
              <a:srgbClr val="5C7A6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477756" y="1828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392156" y="2743200"/>
            <a:ext cx="0" cy="1188720"/>
          </a:xfrm>
          <a:prstGeom prst="line">
            <a:avLst/>
          </a:prstGeom>
          <a:noFill/>
          <a:ln w="19050">
            <a:solidFill>
              <a:srgbClr val="5C7A6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477756" y="3931920"/>
            <a:ext cx="1828800" cy="914400"/>
          </a:xfrm>
          <a:prstGeom prst="roundRect">
            <a:avLst>
              <a:gd name="adj" fmla="val 50000"/>
            </a:avLst>
          </a:prstGeom>
          <a:solidFill>
            <a:srgbClr val="F3F1E7"/>
          </a:solidFill>
          <a:ln w="15875">
            <a:solidFill>
              <a:srgbClr val="5C7A6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77756" y="3931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477756" y="4389120"/>
            <a:ext cx="0" cy="0"/>
          </a:xfrm>
          <a:prstGeom prst="line">
            <a:avLst/>
          </a:prstGeom>
          <a:noFill/>
          <a:ln w="19050">
            <a:solidFill>
              <a:srgbClr val="5C7A6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28916" y="3931920"/>
            <a:ext cx="1828800" cy="914400"/>
          </a:xfrm>
          <a:prstGeom prst="roundRect">
            <a:avLst>
              <a:gd name="adj" fmla="val 50000"/>
            </a:avLst>
          </a:prstGeom>
          <a:solidFill>
            <a:srgbClr val="F3F1E7"/>
          </a:solidFill>
          <a:ln w="15875">
            <a:solidFill>
              <a:srgbClr val="5C7A6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28916" y="3931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MLlib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28916" y="4389120"/>
            <a:ext cx="0" cy="0"/>
          </a:xfrm>
          <a:prstGeom prst="line">
            <a:avLst/>
          </a:prstGeom>
          <a:noFill/>
          <a:ln w="19050">
            <a:solidFill>
              <a:srgbClr val="5C7A6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180076" y="3931920"/>
            <a:ext cx="1828800" cy="914400"/>
          </a:xfrm>
          <a:prstGeom prst="roundRect">
            <a:avLst>
              <a:gd name="adj" fmla="val 50000"/>
            </a:avLst>
          </a:prstGeom>
          <a:solidFill>
            <a:srgbClr val="F3F1E7"/>
          </a:solidFill>
          <a:ln w="15875">
            <a:solidFill>
              <a:srgbClr val="5C7A6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80076" y="3931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&amp;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180076" y="4389120"/>
            <a:ext cx="0" cy="0"/>
          </a:xfrm>
          <a:prstGeom prst="line">
            <a:avLst/>
          </a:prstGeom>
          <a:noFill/>
          <a:ln w="19050">
            <a:solidFill>
              <a:srgbClr val="5C7A6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031236" y="3931920"/>
            <a:ext cx="1828800" cy="914400"/>
          </a:xfrm>
          <a:prstGeom prst="roundRect">
            <a:avLst>
              <a:gd name="adj" fmla="val 50000"/>
            </a:avLst>
          </a:prstGeom>
          <a:solidFill>
            <a:srgbClr val="F3F1E7"/>
          </a:solidFill>
          <a:ln w="15875">
            <a:solidFill>
              <a:srgbClr val="5C7A6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031236" y="3931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031236" y="4389120"/>
            <a:ext cx="0" cy="0"/>
          </a:xfrm>
          <a:prstGeom prst="line">
            <a:avLst/>
          </a:prstGeom>
          <a:noFill/>
          <a:ln w="19050">
            <a:solidFill>
              <a:srgbClr val="5C7A63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82396" y="3931920"/>
            <a:ext cx="1828800" cy="914400"/>
          </a:xfrm>
          <a:prstGeom prst="roundRect">
            <a:avLst>
              <a:gd name="adj" fmla="val 50000"/>
            </a:avLst>
          </a:prstGeom>
          <a:solidFill>
            <a:srgbClr val="F3F1E7"/>
          </a:solidFill>
          <a:ln w="15875">
            <a:solidFill>
              <a:srgbClr val="5C7A6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82396" y="3931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9CAC8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1430000" y="6446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E5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3E0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3E5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120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&amp; Ingestion: historical CSVs and a live weather API feed HDFS and the live ingestion service.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Processing: HDFS stores raw and cleaned data; Pig performs ETL; Hive exposes SQL tables per state.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Analytics: Spark MLlib trains a Regression model and a K-Means model per state.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Serving: a live ingestion service applies the models every 5 minutes and writes to Cassandra.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Streamlit reads Hive/Spark for history and Cassandra for live conditions and alerts.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0" y="100584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5C7A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0" y="1005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 Sources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961120" y="1389888"/>
            <a:ext cx="0" cy="228600"/>
          </a:xfrm>
          <a:prstGeom prst="line">
            <a:avLst/>
          </a:prstGeom>
          <a:noFill/>
          <a:ln w="19050">
            <a:solidFill>
              <a:srgbClr val="5C7A6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772400" y="1618488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5C7A6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0" y="16184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961120" y="2002536"/>
            <a:ext cx="0" cy="228600"/>
          </a:xfrm>
          <a:prstGeom prst="line">
            <a:avLst/>
          </a:prstGeom>
          <a:noFill/>
          <a:ln w="19050">
            <a:solidFill>
              <a:srgbClr val="5C7A6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475220" y="2231136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5C7A6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75220" y="223113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Load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029700" y="2231136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5C7A6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29700" y="223113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 Poll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961120" y="2615184"/>
            <a:ext cx="0" cy="228600"/>
          </a:xfrm>
          <a:prstGeom prst="line">
            <a:avLst/>
          </a:prstGeom>
          <a:noFill/>
          <a:ln w="19050">
            <a:solidFill>
              <a:srgbClr val="5C7A6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72400" y="2843784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5C7A6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0" y="284378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961120" y="3227832"/>
            <a:ext cx="0" cy="228600"/>
          </a:xfrm>
          <a:prstGeom prst="line">
            <a:avLst/>
          </a:prstGeom>
          <a:noFill/>
          <a:ln w="19050">
            <a:solidFill>
              <a:srgbClr val="5C7A6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697980" y="345643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5C7A6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97980" y="34564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52460" y="345643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5C7A6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52460" y="34564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806940" y="345643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5C7A6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806940" y="34564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961120" y="3840480"/>
            <a:ext cx="0" cy="228600"/>
          </a:xfrm>
          <a:prstGeom prst="line">
            <a:avLst/>
          </a:prstGeom>
          <a:noFill/>
          <a:ln w="19050">
            <a:solidFill>
              <a:srgbClr val="5C7A6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772400" y="40690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5C7A6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0" y="40690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MLlib Training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961120" y="4453128"/>
            <a:ext cx="0" cy="228600"/>
          </a:xfrm>
          <a:prstGeom prst="line">
            <a:avLst/>
          </a:prstGeom>
          <a:noFill/>
          <a:ln w="19050">
            <a:solidFill>
              <a:srgbClr val="5C7A6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475220" y="468172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5C7A6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75220" y="46817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029700" y="468172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5C7A6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029700" y="46817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961120" y="5065776"/>
            <a:ext cx="0" cy="228600"/>
          </a:xfrm>
          <a:prstGeom prst="line">
            <a:avLst/>
          </a:prstGeom>
          <a:noFill/>
          <a:ln w="19050">
            <a:solidFill>
              <a:srgbClr val="5C7A63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772400" y="5294376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5C7A6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0" y="52943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 (Live Serving)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961120" y="5678424"/>
            <a:ext cx="0" cy="228600"/>
          </a:xfrm>
          <a:prstGeom prst="line">
            <a:avLst/>
          </a:prstGeom>
          <a:noFill/>
          <a:ln w="19050">
            <a:solidFill>
              <a:srgbClr val="5C7A63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772400" y="5907024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5C7A6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72400" y="590702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Output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9CAC8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1430000" y="6446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E5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3E0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3E5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Used — Part One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4480560"/>
          </a:xfrm>
          <a:prstGeom prst="roundRect">
            <a:avLst>
              <a:gd name="adj" fmla="val 4675"/>
            </a:avLst>
          </a:prstGeom>
          <a:solidFill>
            <a:srgbClr val="C7D0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04672" y="16002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HDFS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2103120"/>
            <a:ext cx="300837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file system storing both raw and cleaned multi-state weather data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Fault-tolerant storage that scales as more states and years of data are added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Organizes data into raw, cleaned, results, and models directories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43400" y="1417320"/>
            <a:ext cx="3520440" cy="4480560"/>
          </a:xfrm>
          <a:prstGeom prst="roundRect">
            <a:avLst>
              <a:gd name="adj" fmla="val 4675"/>
            </a:avLst>
          </a:prstGeom>
          <a:solidFill>
            <a:srgbClr val="C7D0D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99432" y="16002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Pig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99432" y="2103120"/>
            <a:ext cx="300837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 ETL script that filters missing or invalid readings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rows with humidity outside 0-100% or unrealistic pressure values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cleaned data back into HDFS for querying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138160" y="1417320"/>
            <a:ext cx="3520440" cy="4480560"/>
          </a:xfrm>
          <a:prstGeom prst="roundRect">
            <a:avLst>
              <a:gd name="adj" fmla="val 4675"/>
            </a:avLst>
          </a:prstGeom>
          <a:solidFill>
            <a:srgbClr val="C7D0D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94192" y="16002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Hive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394192" y="2103120"/>
            <a:ext cx="300837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cleaned HDFS data as SQL-style external tables, partitioned by state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monthly and yearly trend aggregations per state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results feed directly into the dashboard's historical charts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9CAC8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0" y="6446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E5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3E0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3E5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Used — Part Two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4480560"/>
          </a:xfrm>
          <a:prstGeom prst="roundRect">
            <a:avLst>
              <a:gd name="adj" fmla="val 4675"/>
            </a:avLst>
          </a:prstGeom>
          <a:solidFill>
            <a:srgbClr val="C7D0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04672" y="16002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MLlib — Regression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2103120"/>
            <a:ext cx="300837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trained per state on day-of-year, humidity, wind speed, and pressure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temperature from current or historical feature values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using RMSE and R² on a held-out test split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43400" y="1417320"/>
            <a:ext cx="3520440" cy="4480560"/>
          </a:xfrm>
          <a:prstGeom prst="roundRect">
            <a:avLst>
              <a:gd name="adj" fmla="val 4675"/>
            </a:avLst>
          </a:prstGeom>
          <a:solidFill>
            <a:srgbClr val="C7D0D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99432" y="16002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MLlib — K-Means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99432" y="2103120"/>
            <a:ext cx="300837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each state's normal weather pattern from historical data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live readings as anomalies by distance from the nearest cluster center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are standardized before clustering for fair comparison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138160" y="1417320"/>
            <a:ext cx="3520440" cy="4480560"/>
          </a:xfrm>
          <a:prstGeom prst="roundRect">
            <a:avLst>
              <a:gd name="adj" fmla="val 4675"/>
            </a:avLst>
          </a:prstGeom>
          <a:solidFill>
            <a:srgbClr val="C7D0D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94192" y="16002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Cassandra + Streamlit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394192" y="2103120"/>
            <a:ext cx="300837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ingestion service polls the weather API every 5 minutes and applies the models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written to Apache Cassandra, a low-latency NoSQL serving layer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reads from Cassandra and Hive to show live and historical views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9CAC8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0" y="6446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E5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3E0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3E5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429000" cy="2103120"/>
          </a:xfrm>
          <a:prstGeom prst="rect">
            <a:avLst/>
          </a:prstGeom>
          <a:solidFill>
            <a:srgbClr val="15151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49808" y="1920240"/>
            <a:ext cx="3026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RMSE            : 5.85 C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 Score        : 0.36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        : 4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States Trained  : 15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502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E5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 Model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51960" y="1737360"/>
            <a:ext cx="3429000" cy="2103120"/>
          </a:xfrm>
          <a:prstGeom prst="rect">
            <a:avLst/>
          </a:prstGeom>
          <a:solidFill>
            <a:srgbClr val="15151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453128" y="1920240"/>
            <a:ext cx="3026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Clusters        : 3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       : 2.5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Scaling         : Standardized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 Metric : Euclidean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251960" y="39502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E5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Anomaly Model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55280" y="1737360"/>
            <a:ext cx="3429000" cy="2103120"/>
          </a:xfrm>
          <a:prstGeom prst="rect">
            <a:avLst/>
          </a:prstGeom>
          <a:solidFill>
            <a:srgbClr val="15151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156448" y="1920240"/>
            <a:ext cx="3026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Records Loaded  : 1576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Years Covered   : 2013-2017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Temp (Jan)  : 12.07 C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Temp (May)  : 33.78 C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39502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E5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Hive Query Output (Delhi)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9CAC8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0" y="6446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E5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3E0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3E5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Graphical Representation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463040"/>
          <a:ext cx="66751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457200" y="3931920"/>
          <a:ext cx="66751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498080" y="2743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3E5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Graphical Representation of</a:t>
            </a:r>
            <a:endParaRPr lang="en-US" sz="2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3E5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 and Prediction Accuracy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9CAC80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11430000" y="6446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E5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3E0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3E5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Encountered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10881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version conflicts between Hadoop (Java 11) and Hive (Java 8) required careful environment configuration.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metastore initialization failed repeatedly due to leftover Derby database files.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commons-collections dependency caused metastore errors not resolved by reinstalling Hive alone.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Cassandra Python driver's compiled extensions are incompatible with newer Python versions, requiring a separate virtual environment.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 single model on one city's data produced false anomaly alerts when applied to other states with different climates.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9CAC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0" y="6446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E5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3E0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3E5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10881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size: historical coverage is still limited for several states and could be expanded further.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simplicity: Linear Regression captures seasonal patterns but not short-term weather dynamics.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inputs: multi-day forecasts rely on historical averages for humidity, wind, and pressure rather than live values.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threshold: the distance cutoff for anomaly detection was chosen empirically, not statistically calibrated.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Streaming: live updates rely on polling every 5 minutes rather than a true streaming pipeline such as Kafka.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9CAC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0" y="6446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E5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3E0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3E5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complete multi-stage Big Data pipeline: HDFS, Pig, Hive, Spark MLlib, Cassandra, and Streamlit.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state-wise temperature prediction and real-time anomaly detection across multiple Indian states.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batch processing with a live serving layer, reflecting practical Lambda Architecture principles.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3E56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11880"/>
            <a:ext cx="10881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Hadoop Documentation — hadoop.apache.org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Pig Documentation — pig.apache.org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Hive Documentation — hive.apache.org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MLlib Documentation — spark.apache.org/mllib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Cassandra Documentation — cassandra.apache.org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Documentation — docs.streamlit.io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404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WeatherAPI.com — weatherapi.com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9CAC8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0" y="6446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E5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1265</Words>
  <Application>Microsoft Office PowerPoint</Application>
  <PresentationFormat>Widescreen</PresentationFormat>
  <Paragraphs>202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Kiran AS</cp:lastModifiedBy>
  <cp:revision>2</cp:revision>
  <dcterms:created xsi:type="dcterms:W3CDTF">2026-10-03T06:01:59Z</dcterms:created>
  <dcterms:modified xsi:type="dcterms:W3CDTF">2026-10-13T13:29:13Z</dcterms:modified>
</cp:coreProperties>
</file>